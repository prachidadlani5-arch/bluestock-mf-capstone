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288"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Equity Scheme NAV</c:v>
                </c:pt>
              </c:strCache>
            </c:strRef>
          </c:tx>
          <c:spPr>
            <a:ln w="31750" cap="flat">
              <a:solidFill>
                <a:srgbClr val="1B2A4A"/>
              </a:solidFill>
              <a:prstDash val="solid"/>
              <a:round/>
            </a:ln>
            <a:effectLst/>
          </c:spPr>
          <c:marker>
            <c:symbol val="circle"/>
            <c:size val="4"/>
            <c:spPr>
              <a:solidFill>
                <a:srgbClr val="1B2A4A"/>
              </a:solidFill>
              <a:ln w="9525" cap="flat">
                <a:solidFill>
                  <a:srgbClr val="1B2A4A"/>
                </a:solidFill>
                <a:prstDash val="solid"/>
                <a:round/>
              </a:ln>
              <a:effectLst/>
            </c:spPr>
          </c:marker>
          <c:cat>
            <c:strRef>
              <c:f>Sheet1!$A$2:$A$9</c:f>
              <c:strCache>
                <c:ptCount val="8"/>
                <c:pt idx="0">
                  <c:v>M1</c:v>
                </c:pt>
                <c:pt idx="1">
                  <c:v>M2</c:v>
                </c:pt>
                <c:pt idx="2">
                  <c:v>M3</c:v>
                </c:pt>
                <c:pt idx="3">
                  <c:v>M4</c:v>
                </c:pt>
                <c:pt idx="4">
                  <c:v>M5</c:v>
                </c:pt>
                <c:pt idx="5">
                  <c:v>M6</c:v>
                </c:pt>
                <c:pt idx="6">
                  <c:v>M7</c:v>
                </c:pt>
                <c:pt idx="7">
                  <c:v>M8</c:v>
                </c:pt>
              </c:strCache>
            </c:strRef>
          </c:cat>
          <c:val>
            <c:numRef>
              <c:f>Sheet1!$B$2:$B$9</c:f>
              <c:numCache>
                <c:formatCode>General</c:formatCode>
                <c:ptCount val="8"/>
                <c:pt idx="0">
                  <c:v>100</c:v>
                </c:pt>
                <c:pt idx="1">
                  <c:v>104</c:v>
                </c:pt>
                <c:pt idx="2">
                  <c:v>101</c:v>
                </c:pt>
                <c:pt idx="3">
                  <c:v>110</c:v>
                </c:pt>
                <c:pt idx="4">
                  <c:v>116</c:v>
                </c:pt>
                <c:pt idx="5">
                  <c:v>112</c:v>
                </c:pt>
                <c:pt idx="6">
                  <c:v>121</c:v>
                </c:pt>
                <c:pt idx="7">
                  <c:v>128</c:v>
                </c:pt>
              </c:numCache>
            </c:numRef>
          </c:val>
          <c:smooth val="0"/>
          <c:extLst>
            <c:ext xmlns:c16="http://schemas.microsoft.com/office/drawing/2014/chart" uri="{C3380CC4-5D6E-409C-BE32-E72D297353CC}">
              <c16:uniqueId val="{00000000-8351-4093-84BB-A64FF1F83B19}"/>
            </c:ext>
          </c:extLst>
        </c:ser>
        <c:ser>
          <c:idx val="1"/>
          <c:order val="1"/>
          <c:tx>
            <c:strRef>
              <c:f>Sheet1!$C$1</c:f>
              <c:strCache>
                <c:ptCount val="1"/>
                <c:pt idx="0">
                  <c:v>NIFTY 50 Benchmark</c:v>
                </c:pt>
              </c:strCache>
            </c:strRef>
          </c:tx>
          <c:spPr>
            <a:ln w="31750" cap="flat">
              <a:solidFill>
                <a:srgbClr val="C9A24B"/>
              </a:solidFill>
              <a:prstDash val="solid"/>
              <a:round/>
            </a:ln>
            <a:effectLst/>
          </c:spPr>
          <c:marker>
            <c:symbol val="circle"/>
            <c:size val="4"/>
            <c:spPr>
              <a:solidFill>
                <a:srgbClr val="C9A24B"/>
              </a:solidFill>
              <a:ln w="9525" cap="flat">
                <a:solidFill>
                  <a:srgbClr val="C9A24B"/>
                </a:solidFill>
                <a:prstDash val="solid"/>
                <a:round/>
              </a:ln>
              <a:effectLst/>
            </c:spPr>
          </c:marker>
          <c:cat>
            <c:strRef>
              <c:f>Sheet1!$A$2:$A$9</c:f>
              <c:strCache>
                <c:ptCount val="8"/>
                <c:pt idx="0">
                  <c:v>M1</c:v>
                </c:pt>
                <c:pt idx="1">
                  <c:v>M2</c:v>
                </c:pt>
                <c:pt idx="2">
                  <c:v>M3</c:v>
                </c:pt>
                <c:pt idx="3">
                  <c:v>M4</c:v>
                </c:pt>
                <c:pt idx="4">
                  <c:v>M5</c:v>
                </c:pt>
                <c:pt idx="5">
                  <c:v>M6</c:v>
                </c:pt>
                <c:pt idx="6">
                  <c:v>M7</c:v>
                </c:pt>
                <c:pt idx="7">
                  <c:v>M8</c:v>
                </c:pt>
              </c:strCache>
            </c:strRef>
          </c:cat>
          <c:val>
            <c:numRef>
              <c:f>Sheet1!$C$2:$C$9</c:f>
              <c:numCache>
                <c:formatCode>General</c:formatCode>
                <c:ptCount val="8"/>
                <c:pt idx="0">
                  <c:v>100</c:v>
                </c:pt>
                <c:pt idx="1">
                  <c:v>102</c:v>
                </c:pt>
                <c:pt idx="2">
                  <c:v>100</c:v>
                </c:pt>
                <c:pt idx="3">
                  <c:v>105</c:v>
                </c:pt>
                <c:pt idx="4">
                  <c:v>109</c:v>
                </c:pt>
                <c:pt idx="5">
                  <c:v>107</c:v>
                </c:pt>
                <c:pt idx="6">
                  <c:v>112</c:v>
                </c:pt>
                <c:pt idx="7">
                  <c:v>116</c:v>
                </c:pt>
              </c:numCache>
            </c:numRef>
          </c:val>
          <c:smooth val="0"/>
          <c:extLst>
            <c:ext xmlns:c16="http://schemas.microsoft.com/office/drawing/2014/chart" uri="{C3380CC4-5D6E-409C-BE32-E72D297353CC}">
              <c16:uniqueId val="{00000001-8351-4093-84BB-A64FF1F83B1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7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F1F6"/>
              </a:solidFill>
              <a:prstDash val="solid"/>
              <a:round/>
            </a:ln>
          </c:spPr>
        </c:majorGridlines>
        <c:title>
          <c:tx>
            <c:rich>
              <a:bodyPr/>
              <a:lstStyle/>
              <a:p>
                <a:pPr>
                  <a:defRPr sz="1000" b="0" i="0" u="none" strike="noStrike">
                    <a:solidFill>
                      <a:srgbClr val="000000"/>
                    </a:solidFill>
                    <a:latin typeface="Arial"/>
                  </a:defRPr>
                </a:pPr>
                <a:r>
                  <a:rPr lang="en-IN" sz="1000" b="0" i="0" u="none" strike="noStrike">
                    <a:solidFill>
                      <a:srgbClr val="000000"/>
                    </a:solidFill>
                    <a:latin typeface="Arial"/>
                  </a:rPr>
                  <a:t>NAV (Indexed to 100)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57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Sharpe Ratio</c:v>
                </c:pt>
              </c:strCache>
            </c:strRef>
          </c:tx>
          <c:spPr>
            <a:solidFill>
              <a:srgbClr val="C9A24B"/>
            </a:solidFill>
            <a:effectLst/>
          </c:spPr>
          <c:invertIfNegative val="0"/>
          <c:dLbls>
            <c:numFmt formatCode="#,##0" sourceLinked="0"/>
            <c:spPr>
              <a:noFill/>
              <a:ln>
                <a:noFill/>
              </a:ln>
              <a:effectLst/>
            </c:spPr>
            <c:txPr>
              <a:bodyPr/>
              <a:lstStyle/>
              <a:p>
                <a:pPr>
                  <a:defRPr sz="10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Large Cap</c:v>
                </c:pt>
                <c:pt idx="1">
                  <c:v>Multi Cap</c:v>
                </c:pt>
                <c:pt idx="2">
                  <c:v>Mid Cap</c:v>
                </c:pt>
                <c:pt idx="3">
                  <c:v>Small Cap</c:v>
                </c:pt>
                <c:pt idx="4">
                  <c:v>Debt</c:v>
                </c:pt>
                <c:pt idx="5">
                  <c:v>Hybrid</c:v>
                </c:pt>
              </c:strCache>
            </c:strRef>
          </c:cat>
          <c:val>
            <c:numRef>
              <c:f>Sheet1!$B$2:$B$7</c:f>
              <c:numCache>
                <c:formatCode>General</c:formatCode>
                <c:ptCount val="6"/>
                <c:pt idx="0">
                  <c:v>1.32</c:v>
                </c:pt>
                <c:pt idx="1">
                  <c:v>1.05</c:v>
                </c:pt>
                <c:pt idx="2">
                  <c:v>0.88</c:v>
                </c:pt>
                <c:pt idx="3">
                  <c:v>0.61</c:v>
                </c:pt>
                <c:pt idx="4">
                  <c:v>0.74</c:v>
                </c:pt>
                <c:pt idx="5">
                  <c:v>0.95</c:v>
                </c:pt>
              </c:numCache>
            </c:numRef>
          </c:val>
          <c:extLst>
            <c:ext xmlns:c16="http://schemas.microsoft.com/office/drawing/2014/chart" uri="{C3380CC4-5D6E-409C-BE32-E72D297353CC}">
              <c16:uniqueId val="{00000000-B916-4DDD-9931-64E597CF8B1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420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as a complete, end-to-end mutual fund analytics pipeline built during a structured internship/capstone. Mention it covers everything from raw CSV ingestion to an advanced analytics and Power BI dashboard layer, analysing 40 real mutual fund schemes across performance, risk, and investor behaviour dimensions.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concrete problems the project addresses: data fragmentation across ten separate files, shallow risk visibility in standard fact sheets, and the lack of interactive, sliceable views for investors and analysts. Frame this as the motivation for building a unified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six core objectives, moving from foundational data engineering (ETL, cleaning, schema design) through quantitative performance benchmarking to the dashboard and advanced analytics extensions. Emphasise that each objective maps to one working day of the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tool chain grouped into four functional bands: data and analytics libraries, visualisation and business intelligence, the database layer, and engineering/version-control tooling. Mention that SQLAlchemy was chosen specifically so the same code could later target a production database.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five-stage architecture: raw CSVs are extracted using Pandas plus a live NAV-fetching routine, transformed through the cleaning and validation rules, and loaded via SQLAlchemy into a SQLite database designed on a star schema, which then feeds both the Python analytics layer and the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cleaning steps applied to the raw data: missing value handling using forward-fill for time series, duplicate removal via composite keys, ISO date standardisation, and rule-based validation. Then show the EDA example — an indexed NAV trend for an equity scheme versus its benchmark — used to visually confirm the fund is broadly outperforming.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core performance metrics computed for every scheme, noting that Sharpe and Sortino ratios were used as the primary ranking basis rather than raw CAGR, since risk-adjusted return is more decision-relevant than return alone. Mention the additional Maximum Drawdown metric and the consolidated Fund Scorecard.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four-page Power BI dashboard: Industry Overview for high-level KPIs, Fund Performance centred on the return-vs-risk scatter plot, Investor Analytics for behavioural breakdowns by state and age group, and SIP &amp; Market Trends for category-level flow analysis. Highlight the drill-through pages, tooltips, and interactive slicers that tie the pages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six advanced analytics components added on Day 6: tail-risk measurement through Historical VaR and CVaR, time-varying risk via the rolling 90-day Sharpe Ratio, behavioural analysis through investor cohorts and SIP continuity, a transparent rule-based recommender, and portfolio concentration analysis using the HHI. Emphasise these go beyond a typical academic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two headline results: the Mirae Asset Large Cap Fund leads on both Sharpe and Sortino ratios, indicating the best risk-adjusted performance in the sample, while the SBI Small Cap Fund shows the highest Value-at-Risk, confirming higher tail risk in small-cap exposure. The chart illustrates how average risk-adjusted return typically declines from large-cap to small-cap categories, consistent with these findings.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narrative with actionable recommendations for investors and fund houses, then outline the roadmap for extending the project further: cloud migration, automated NAV refresh, a machine-learning-based recommender, additional VaR methodologies, and publishing to the Power BI Service with row-level security.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Offer to walk through the live Power BI dashboard or the GitHub repository in more depth if there is interest, and share contact details for follow-up.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052560" y="-1280160"/>
            <a:ext cx="4754880" cy="4754880"/>
          </a:xfrm>
          <a:prstGeom prst="ellipse">
            <a:avLst/>
          </a:prstGeom>
          <a:solidFill>
            <a:srgbClr val="1B2A4A"/>
          </a:solidFill>
          <a:ln/>
        </p:spPr>
      </p:sp>
      <p:sp>
        <p:nvSpPr>
          <p:cNvPr id="3" name="Shape 1"/>
          <p:cNvSpPr/>
          <p:nvPr/>
        </p:nvSpPr>
        <p:spPr>
          <a:xfrm>
            <a:off x="9875520" y="-457200"/>
            <a:ext cx="3108960" cy="3108960"/>
          </a:xfrm>
          <a:prstGeom prst="ellipse">
            <a:avLst/>
          </a:prstGeom>
          <a:solidFill>
            <a:srgbClr val="24345A"/>
          </a:solidFill>
          <a:ln/>
        </p:spPr>
      </p:sp>
      <p:sp>
        <p:nvSpPr>
          <p:cNvPr id="4" name="Shape 2"/>
          <p:cNvSpPr/>
          <p:nvPr/>
        </p:nvSpPr>
        <p:spPr>
          <a:xfrm>
            <a:off x="-1463040" y="4206240"/>
            <a:ext cx="4206240" cy="4206240"/>
          </a:xfrm>
          <a:prstGeom prst="ellipse">
            <a:avLst/>
          </a:prstGeom>
          <a:solidFill>
            <a:srgbClr val="202F52"/>
          </a:solidFill>
          <a:ln/>
        </p:spPr>
      </p:sp>
      <p:sp>
        <p:nvSpPr>
          <p:cNvPr id="5" name="Text 3"/>
          <p:cNvSpPr/>
          <p:nvPr/>
        </p:nvSpPr>
        <p:spPr>
          <a:xfrm>
            <a:off x="731520" y="2148840"/>
            <a:ext cx="9144000" cy="457200"/>
          </a:xfrm>
          <a:prstGeom prst="rect">
            <a:avLst/>
          </a:prstGeom>
          <a:noFill/>
          <a:ln/>
        </p:spPr>
        <p:txBody>
          <a:bodyPr wrap="square" rtlCol="0" anchor="ctr"/>
          <a:lstStyle/>
          <a:p>
            <a:pPr marL="0" indent="0">
              <a:buNone/>
            </a:pPr>
            <a:r>
              <a:rPr lang="en-US" sz="1500" b="1" kern="0" spc="300" dirty="0">
                <a:solidFill>
                  <a:srgbClr val="C9A24B"/>
                </a:solidFill>
                <a:latin typeface="Calibri" pitchFamily="34" charset="0"/>
                <a:ea typeface="Calibri" pitchFamily="34" charset="-122"/>
                <a:cs typeface="Calibri" pitchFamily="34" charset="-120"/>
              </a:rPr>
              <a:t>MUTUAL FUND ANALYTICS</a:t>
            </a:r>
            <a:endParaRPr lang="en-US" sz="1500" dirty="0"/>
          </a:p>
        </p:txBody>
      </p:sp>
      <p:sp>
        <p:nvSpPr>
          <p:cNvPr id="6" name="Text 4"/>
          <p:cNvSpPr/>
          <p:nvPr/>
        </p:nvSpPr>
        <p:spPr>
          <a:xfrm>
            <a:off x="731520" y="2514600"/>
            <a:ext cx="96012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Bluestock</a:t>
            </a:r>
            <a:endParaRPr lang="en-US" sz="6000" dirty="0"/>
          </a:p>
        </p:txBody>
      </p:sp>
      <p:sp>
        <p:nvSpPr>
          <p:cNvPr id="7" name="Text 5"/>
          <p:cNvSpPr/>
          <p:nvPr/>
        </p:nvSpPr>
        <p:spPr>
          <a:xfrm>
            <a:off x="749808" y="3794760"/>
            <a:ext cx="8686800" cy="822960"/>
          </a:xfrm>
          <a:prstGeom prst="rect">
            <a:avLst/>
          </a:prstGeom>
          <a:noFill/>
          <a:ln/>
        </p:spPr>
        <p:txBody>
          <a:bodyPr wrap="square" rtlCol="0" anchor="ctr"/>
          <a:lstStyle/>
          <a:p>
            <a:pPr marL="0" indent="0">
              <a:buNone/>
            </a:pPr>
            <a:r>
              <a:rPr lang="en-US" sz="1600" i="1" dirty="0">
                <a:solidFill>
                  <a:srgbClr val="D8E4F5"/>
                </a:solidFill>
                <a:latin typeface="Calibri" pitchFamily="34" charset="0"/>
                <a:ea typeface="Calibri" pitchFamily="34" charset="-122"/>
                <a:cs typeface="Calibri" pitchFamily="34" charset="-120"/>
              </a:rPr>
              <a:t>Performance, Risk &amp; Investor Behaviour Analytics across 40 Mutual Fund Schemes</a:t>
            </a:r>
            <a:endParaRPr lang="en-US" sz="1600" dirty="0"/>
          </a:p>
          <a:p>
            <a:pPr marL="0" indent="0">
              <a:buNone/>
            </a:pPr>
            <a:r>
              <a:rPr lang="en-US" sz="1600" i="1" dirty="0">
                <a:solidFill>
                  <a:srgbClr val="D8E4F5"/>
                </a:solidFill>
                <a:latin typeface="Calibri" pitchFamily="34" charset="0"/>
                <a:ea typeface="Calibri" pitchFamily="34" charset="-122"/>
                <a:cs typeface="Calibri" pitchFamily="34" charset="-120"/>
              </a:rPr>
              <a:t>using Python, SQL, and Power BI</a:t>
            </a:r>
            <a:endParaRPr lang="en-US" sz="1600" dirty="0"/>
          </a:p>
        </p:txBody>
      </p:sp>
      <p:sp>
        <p:nvSpPr>
          <p:cNvPr id="8" name="Shape 6"/>
          <p:cNvSpPr/>
          <p:nvPr/>
        </p:nvSpPr>
        <p:spPr>
          <a:xfrm>
            <a:off x="777240" y="4892040"/>
            <a:ext cx="2011680" cy="0"/>
          </a:xfrm>
          <a:prstGeom prst="line">
            <a:avLst/>
          </a:prstGeom>
          <a:noFill/>
          <a:ln w="31750">
            <a:solidFill>
              <a:srgbClr val="C9A24B"/>
            </a:solidFill>
            <a:prstDash val="solid"/>
          </a:ln>
        </p:spPr>
      </p:sp>
      <p:sp>
        <p:nvSpPr>
          <p:cNvPr id="9" name="Text 7"/>
          <p:cNvSpPr/>
          <p:nvPr/>
        </p:nvSpPr>
        <p:spPr>
          <a:xfrm>
            <a:off x="749808" y="5074920"/>
            <a:ext cx="8229600" cy="365760"/>
          </a:xfrm>
          <a:prstGeom prst="rect">
            <a:avLst/>
          </a:prstGeom>
          <a:noFill/>
          <a:ln/>
        </p:spPr>
        <p:txBody>
          <a:bodyPr wrap="square" rtlCol="0" anchor="ctr"/>
          <a:lstStyle/>
          <a:p>
            <a:pPr marL="0" indent="0">
              <a:buNone/>
            </a:pPr>
            <a:r>
              <a:rPr lang="en-US" sz="1200" dirty="0">
                <a:solidFill>
                  <a:srgbClr val="9FB0CC"/>
                </a:solidFill>
                <a:latin typeface="Calibri" pitchFamily="34" charset="0"/>
                <a:ea typeface="Calibri" pitchFamily="34" charset="-122"/>
                <a:cs typeface="Calibri" pitchFamily="34" charset="-120"/>
              </a:rPr>
              <a:t>Capstone Project  |  B.Tech CSE (AI &amp; Data Science)  |  Internship Submission, 2026</a:t>
            </a:r>
            <a:endParaRPr lang="en-US" sz="1200" dirty="0"/>
          </a:p>
        </p:txBody>
      </p:sp>
      <p:sp>
        <p:nvSpPr>
          <p:cNvPr id="10" name="Text 8"/>
          <p:cNvSpPr/>
          <p:nvPr/>
        </p:nvSpPr>
        <p:spPr>
          <a:xfrm>
            <a:off x="749808" y="6035040"/>
            <a:ext cx="54864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Prachi Dadlani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Problem Statement</a:t>
            </a:r>
            <a:endParaRPr lang="en-US" sz="3400" dirty="0"/>
          </a:p>
        </p:txBody>
      </p:sp>
      <p:sp>
        <p:nvSpPr>
          <p:cNvPr id="3" name="Text 1"/>
          <p:cNvSpPr/>
          <p:nvPr/>
        </p:nvSpPr>
        <p:spPr>
          <a:xfrm>
            <a:off x="548640" y="1143000"/>
            <a:ext cx="10515600" cy="457200"/>
          </a:xfrm>
          <a:prstGeom prst="rect">
            <a:avLst/>
          </a:prstGeom>
          <a:noFill/>
          <a:ln/>
        </p:spPr>
        <p:txBody>
          <a:bodyPr wrap="square" rtlCol="0" anchor="ctr"/>
          <a:lstStyle/>
          <a:p>
            <a:pPr marL="0" indent="0">
              <a:buNone/>
            </a:pPr>
            <a:r>
              <a:rPr lang="en-US" sz="1500" i="1" dirty="0">
                <a:solidFill>
                  <a:srgbClr val="5B6579"/>
                </a:solidFill>
                <a:latin typeface="Calibri" pitchFamily="34" charset="0"/>
                <a:ea typeface="Calibri" pitchFamily="34" charset="-122"/>
                <a:cs typeface="Calibri" pitchFamily="34" charset="-120"/>
              </a:rPr>
              <a:t>Mutual fund data today is fragmented, shallow on risk, and hard to explore.</a:t>
            </a:r>
            <a:endParaRPr lang="en-US" sz="1500" dirty="0"/>
          </a:p>
        </p:txBody>
      </p:sp>
      <p:sp>
        <p:nvSpPr>
          <p:cNvPr id="4" name="Shape 2"/>
          <p:cNvSpPr/>
          <p:nvPr/>
        </p:nvSpPr>
        <p:spPr>
          <a:xfrm>
            <a:off x="548640" y="1965960"/>
            <a:ext cx="3383280" cy="3931920"/>
          </a:xfrm>
          <a:prstGeom prst="roundRect">
            <a:avLst>
              <a:gd name="adj" fmla="val 2162"/>
            </a:avLst>
          </a:prstGeom>
          <a:solidFill>
            <a:srgbClr val="FFFFFF"/>
          </a:solidFill>
          <a:ln/>
          <a:effectLst>
            <a:outerShdw blurRad="101600" dist="38100" dir="5400000" algn="bl" rotWithShape="0">
              <a:srgbClr val="1B2A4A">
                <a:alpha val="18000"/>
              </a:srgbClr>
            </a:outerShdw>
          </a:effectLst>
        </p:spPr>
      </p:sp>
      <p:sp>
        <p:nvSpPr>
          <p:cNvPr id="5" name="Shape 3"/>
          <p:cNvSpPr/>
          <p:nvPr/>
        </p:nvSpPr>
        <p:spPr>
          <a:xfrm>
            <a:off x="822960" y="2286000"/>
            <a:ext cx="640080" cy="640080"/>
          </a:xfrm>
          <a:prstGeom prst="ellipse">
            <a:avLst/>
          </a:prstGeom>
          <a:solidFill>
            <a:srgbClr val="1B2A4A"/>
          </a:solidFill>
          <a:ln/>
        </p:spPr>
      </p:sp>
      <p:sp>
        <p:nvSpPr>
          <p:cNvPr id="6" name="Text 4"/>
          <p:cNvSpPr/>
          <p:nvPr/>
        </p:nvSpPr>
        <p:spPr>
          <a:xfrm>
            <a:off x="822960" y="2286000"/>
            <a:ext cx="640080" cy="640080"/>
          </a:xfrm>
          <a:prstGeom prst="rect">
            <a:avLst/>
          </a:prstGeom>
          <a:noFill/>
          <a:ln/>
        </p:spPr>
        <p:txBody>
          <a:bodyPr wrap="square" rtlCol="0" anchor="ctr"/>
          <a:lstStyle/>
          <a:p>
            <a:pPr marL="0" indent="0" algn="ctr">
              <a:buNone/>
            </a:pPr>
            <a:r>
              <a:rPr lang="en-US" sz="1540" b="1" dirty="0">
                <a:solidFill>
                  <a:srgbClr val="C9A24B"/>
                </a:solidFill>
                <a:latin typeface="Cambria" pitchFamily="34" charset="0"/>
                <a:ea typeface="Cambria" pitchFamily="34" charset="-122"/>
                <a:cs typeface="Cambria" pitchFamily="34" charset="-120"/>
              </a:rPr>
              <a:t>1</a:t>
            </a:r>
            <a:endParaRPr lang="en-US" sz="1540" dirty="0"/>
          </a:p>
        </p:txBody>
      </p:sp>
      <p:sp>
        <p:nvSpPr>
          <p:cNvPr id="7" name="Text 5"/>
          <p:cNvSpPr/>
          <p:nvPr/>
        </p:nvSpPr>
        <p:spPr>
          <a:xfrm>
            <a:off x="822960" y="3108960"/>
            <a:ext cx="2834640" cy="548640"/>
          </a:xfrm>
          <a:prstGeom prst="rect">
            <a:avLst/>
          </a:prstGeom>
          <a:noFill/>
          <a:ln/>
        </p:spPr>
        <p:txBody>
          <a:bodyPr wrap="square"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Fragmentation</a:t>
            </a:r>
            <a:endParaRPr lang="en-US" sz="1800" dirty="0"/>
          </a:p>
        </p:txBody>
      </p:sp>
      <p:sp>
        <p:nvSpPr>
          <p:cNvPr id="8" name="Text 6"/>
          <p:cNvSpPr/>
          <p:nvPr/>
        </p:nvSpPr>
        <p:spPr>
          <a:xfrm>
            <a:off x="822960" y="3703320"/>
            <a:ext cx="2834640" cy="2011680"/>
          </a:xfrm>
          <a:prstGeom prst="rect">
            <a:avLst/>
          </a:prstGeom>
          <a:noFill/>
          <a:ln/>
        </p:spPr>
        <p:txBody>
          <a:bodyPr wrap="square" rtlCol="0" anchor="ctr"/>
          <a:lstStyle/>
          <a:p>
            <a:pPr marL="0" indent="0">
              <a:lnSpc>
                <a:spcPct val="115000"/>
              </a:lnSpc>
              <a:buNone/>
            </a:pPr>
            <a:r>
              <a:rPr lang="en-US" sz="1250" dirty="0">
                <a:solidFill>
                  <a:srgbClr val="5B6579"/>
                </a:solidFill>
                <a:latin typeface="Calibri" pitchFamily="34" charset="0"/>
                <a:ea typeface="Calibri" pitchFamily="34" charset="-122"/>
                <a:cs typeface="Calibri" pitchFamily="34" charset="-120"/>
              </a:rPr>
              <a:t>Fund master, NAV, AUM, SIP and transaction data live in separate files with no unified analytical layer connecting them.</a:t>
            </a:r>
            <a:endParaRPr lang="en-US" sz="1250" dirty="0"/>
          </a:p>
        </p:txBody>
      </p:sp>
      <p:sp>
        <p:nvSpPr>
          <p:cNvPr id="9" name="Shape 7"/>
          <p:cNvSpPr/>
          <p:nvPr/>
        </p:nvSpPr>
        <p:spPr>
          <a:xfrm>
            <a:off x="4251960" y="1965960"/>
            <a:ext cx="3383280" cy="3931920"/>
          </a:xfrm>
          <a:prstGeom prst="roundRect">
            <a:avLst>
              <a:gd name="adj" fmla="val 2162"/>
            </a:avLst>
          </a:prstGeom>
          <a:solidFill>
            <a:srgbClr val="FFFFFF"/>
          </a:solidFill>
          <a:ln/>
          <a:effectLst>
            <a:outerShdw blurRad="101600" dist="38100" dir="5400000" algn="bl" rotWithShape="0">
              <a:srgbClr val="1B2A4A">
                <a:alpha val="18000"/>
              </a:srgbClr>
            </a:outerShdw>
          </a:effectLst>
        </p:spPr>
      </p:sp>
      <p:sp>
        <p:nvSpPr>
          <p:cNvPr id="10" name="Shape 8"/>
          <p:cNvSpPr/>
          <p:nvPr/>
        </p:nvSpPr>
        <p:spPr>
          <a:xfrm>
            <a:off x="4526280" y="2286000"/>
            <a:ext cx="640080" cy="640080"/>
          </a:xfrm>
          <a:prstGeom prst="ellipse">
            <a:avLst/>
          </a:prstGeom>
          <a:solidFill>
            <a:srgbClr val="1B2A4A"/>
          </a:solidFill>
          <a:ln/>
        </p:spPr>
      </p:sp>
      <p:sp>
        <p:nvSpPr>
          <p:cNvPr id="11" name="Text 9"/>
          <p:cNvSpPr/>
          <p:nvPr/>
        </p:nvSpPr>
        <p:spPr>
          <a:xfrm>
            <a:off x="4526280" y="2286000"/>
            <a:ext cx="640080" cy="640080"/>
          </a:xfrm>
          <a:prstGeom prst="rect">
            <a:avLst/>
          </a:prstGeom>
          <a:noFill/>
          <a:ln/>
        </p:spPr>
        <p:txBody>
          <a:bodyPr wrap="square" rtlCol="0" anchor="ctr"/>
          <a:lstStyle/>
          <a:p>
            <a:pPr marL="0" indent="0" algn="ctr">
              <a:buNone/>
            </a:pPr>
            <a:r>
              <a:rPr lang="en-US" sz="1540" b="1" dirty="0">
                <a:solidFill>
                  <a:srgbClr val="C9A24B"/>
                </a:solidFill>
                <a:latin typeface="Cambria" pitchFamily="34" charset="0"/>
                <a:ea typeface="Cambria" pitchFamily="34" charset="-122"/>
                <a:cs typeface="Cambria" pitchFamily="34" charset="-120"/>
              </a:rPr>
              <a:t>2</a:t>
            </a:r>
            <a:endParaRPr lang="en-US" sz="1540" dirty="0"/>
          </a:p>
        </p:txBody>
      </p:sp>
      <p:sp>
        <p:nvSpPr>
          <p:cNvPr id="12" name="Text 10"/>
          <p:cNvSpPr/>
          <p:nvPr/>
        </p:nvSpPr>
        <p:spPr>
          <a:xfrm>
            <a:off x="4526280" y="3108960"/>
            <a:ext cx="2834640" cy="548640"/>
          </a:xfrm>
          <a:prstGeom prst="rect">
            <a:avLst/>
          </a:prstGeom>
          <a:noFill/>
          <a:ln/>
        </p:spPr>
        <p:txBody>
          <a:bodyPr wrap="square"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Shallow Risk Visibility</a:t>
            </a:r>
            <a:endParaRPr lang="en-US" sz="1800" dirty="0"/>
          </a:p>
        </p:txBody>
      </p:sp>
      <p:sp>
        <p:nvSpPr>
          <p:cNvPr id="13" name="Text 11"/>
          <p:cNvSpPr/>
          <p:nvPr/>
        </p:nvSpPr>
        <p:spPr>
          <a:xfrm>
            <a:off x="4526280" y="3703320"/>
            <a:ext cx="2834640" cy="2011680"/>
          </a:xfrm>
          <a:prstGeom prst="rect">
            <a:avLst/>
          </a:prstGeom>
          <a:noFill/>
          <a:ln/>
        </p:spPr>
        <p:txBody>
          <a:bodyPr wrap="square" rtlCol="0" anchor="ctr"/>
          <a:lstStyle/>
          <a:p>
            <a:pPr marL="0" indent="0">
              <a:lnSpc>
                <a:spcPct val="115000"/>
              </a:lnSpc>
              <a:buNone/>
            </a:pPr>
            <a:r>
              <a:rPr lang="en-US" sz="1250" dirty="0">
                <a:solidFill>
                  <a:srgbClr val="5B6579"/>
                </a:solidFill>
                <a:latin typeface="Calibri" pitchFamily="34" charset="0"/>
                <a:ea typeface="Calibri" pitchFamily="34" charset="-122"/>
                <a:cs typeface="Calibri" pitchFamily="34" charset="-120"/>
              </a:rPr>
              <a:t>Standard fact sheets highlight returns but rarely present volatility, drawdown, or Value-at-Risk in a comparable way.</a:t>
            </a:r>
            <a:endParaRPr lang="en-US" sz="1250" dirty="0"/>
          </a:p>
        </p:txBody>
      </p:sp>
      <p:sp>
        <p:nvSpPr>
          <p:cNvPr id="14" name="Shape 12"/>
          <p:cNvSpPr/>
          <p:nvPr/>
        </p:nvSpPr>
        <p:spPr>
          <a:xfrm>
            <a:off x="7955280" y="1965960"/>
            <a:ext cx="3383280" cy="3931920"/>
          </a:xfrm>
          <a:prstGeom prst="roundRect">
            <a:avLst>
              <a:gd name="adj" fmla="val 2162"/>
            </a:avLst>
          </a:prstGeom>
          <a:solidFill>
            <a:srgbClr val="FFFFFF"/>
          </a:solidFill>
          <a:ln/>
          <a:effectLst>
            <a:outerShdw blurRad="101600" dist="38100" dir="5400000" algn="bl" rotWithShape="0">
              <a:srgbClr val="1B2A4A">
                <a:alpha val="18000"/>
              </a:srgbClr>
            </a:outerShdw>
          </a:effectLst>
        </p:spPr>
      </p:sp>
      <p:sp>
        <p:nvSpPr>
          <p:cNvPr id="15" name="Shape 13"/>
          <p:cNvSpPr/>
          <p:nvPr/>
        </p:nvSpPr>
        <p:spPr>
          <a:xfrm>
            <a:off x="8229600" y="2286000"/>
            <a:ext cx="640080" cy="640080"/>
          </a:xfrm>
          <a:prstGeom prst="ellipse">
            <a:avLst/>
          </a:prstGeom>
          <a:solidFill>
            <a:srgbClr val="1B2A4A"/>
          </a:solidFill>
          <a:ln/>
        </p:spPr>
      </p:sp>
      <p:sp>
        <p:nvSpPr>
          <p:cNvPr id="16" name="Text 14"/>
          <p:cNvSpPr/>
          <p:nvPr/>
        </p:nvSpPr>
        <p:spPr>
          <a:xfrm>
            <a:off x="8229600" y="2286000"/>
            <a:ext cx="640080" cy="640080"/>
          </a:xfrm>
          <a:prstGeom prst="rect">
            <a:avLst/>
          </a:prstGeom>
          <a:noFill/>
          <a:ln/>
        </p:spPr>
        <p:txBody>
          <a:bodyPr wrap="square" rtlCol="0" anchor="ctr"/>
          <a:lstStyle/>
          <a:p>
            <a:pPr marL="0" indent="0" algn="ctr">
              <a:buNone/>
            </a:pPr>
            <a:r>
              <a:rPr lang="en-US" sz="1540" b="1" dirty="0">
                <a:solidFill>
                  <a:srgbClr val="C9A24B"/>
                </a:solidFill>
                <a:latin typeface="Cambria" pitchFamily="34" charset="0"/>
                <a:ea typeface="Cambria" pitchFamily="34" charset="-122"/>
                <a:cs typeface="Cambria" pitchFamily="34" charset="-120"/>
              </a:rPr>
              <a:t>3</a:t>
            </a:r>
            <a:endParaRPr lang="en-US" sz="1540" dirty="0"/>
          </a:p>
        </p:txBody>
      </p:sp>
      <p:sp>
        <p:nvSpPr>
          <p:cNvPr id="17" name="Text 15"/>
          <p:cNvSpPr/>
          <p:nvPr/>
        </p:nvSpPr>
        <p:spPr>
          <a:xfrm>
            <a:off x="8229600" y="3108960"/>
            <a:ext cx="2834640" cy="548640"/>
          </a:xfrm>
          <a:prstGeom prst="rect">
            <a:avLst/>
          </a:prstGeom>
          <a:noFill/>
          <a:ln/>
        </p:spPr>
        <p:txBody>
          <a:bodyPr wrap="square"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No Interactivity</a:t>
            </a:r>
            <a:endParaRPr lang="en-US" sz="1800" dirty="0"/>
          </a:p>
        </p:txBody>
      </p:sp>
      <p:sp>
        <p:nvSpPr>
          <p:cNvPr id="18" name="Text 16"/>
          <p:cNvSpPr/>
          <p:nvPr/>
        </p:nvSpPr>
        <p:spPr>
          <a:xfrm>
            <a:off x="8229600" y="3703320"/>
            <a:ext cx="2834640" cy="2011680"/>
          </a:xfrm>
          <a:prstGeom prst="rect">
            <a:avLst/>
          </a:prstGeom>
          <a:noFill/>
          <a:ln/>
        </p:spPr>
        <p:txBody>
          <a:bodyPr wrap="square" rtlCol="0" anchor="ctr"/>
          <a:lstStyle/>
          <a:p>
            <a:pPr marL="0" indent="0">
              <a:lnSpc>
                <a:spcPct val="115000"/>
              </a:lnSpc>
              <a:buNone/>
            </a:pPr>
            <a:r>
              <a:rPr lang="en-US" sz="1250" dirty="0">
                <a:solidFill>
                  <a:srgbClr val="5B6579"/>
                </a:solidFill>
                <a:latin typeface="Calibri" pitchFamily="34" charset="0"/>
                <a:ea typeface="Calibri" pitchFamily="34" charset="-122"/>
                <a:cs typeface="Calibri" pitchFamily="34" charset="-120"/>
              </a:rPr>
              <a:t>Static PDFs and one-off spreadsheets can't be sliced by fund house, category, plan, state, or age group.</a:t>
            </a:r>
            <a:endParaRPr lang="en-US" sz="1250" dirty="0"/>
          </a:p>
        </p:txBody>
      </p:sp>
      <p:sp>
        <p:nvSpPr>
          <p:cNvPr id="19" name="Text 17"/>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Objectives</a:t>
            </a:r>
            <a:endParaRPr lang="en-US" sz="3400" dirty="0"/>
          </a:p>
        </p:txBody>
      </p:sp>
      <p:sp>
        <p:nvSpPr>
          <p:cNvPr id="3" name="Shape 1"/>
          <p:cNvSpPr/>
          <p:nvPr/>
        </p:nvSpPr>
        <p:spPr>
          <a:xfrm>
            <a:off x="548640" y="1371600"/>
            <a:ext cx="5120640" cy="1417320"/>
          </a:xfrm>
          <a:prstGeom prst="roundRect">
            <a:avLst>
              <a:gd name="adj" fmla="val 4516"/>
            </a:avLst>
          </a:prstGeom>
          <a:solidFill>
            <a:srgbClr val="F7F9FC"/>
          </a:solidFill>
          <a:ln w="12700">
            <a:solidFill>
              <a:srgbClr val="E1E7F0"/>
            </a:solidFill>
            <a:prstDash val="solid"/>
          </a:ln>
        </p:spPr>
      </p:sp>
      <p:sp>
        <p:nvSpPr>
          <p:cNvPr id="4" name="Shape 2"/>
          <p:cNvSpPr/>
          <p:nvPr/>
        </p:nvSpPr>
        <p:spPr>
          <a:xfrm>
            <a:off x="777240" y="1824228"/>
            <a:ext cx="512064" cy="512064"/>
          </a:xfrm>
          <a:prstGeom prst="ellipse">
            <a:avLst/>
          </a:prstGeom>
          <a:solidFill>
            <a:srgbClr val="C9A24B"/>
          </a:solidFill>
          <a:ln/>
        </p:spPr>
      </p:sp>
      <p:sp>
        <p:nvSpPr>
          <p:cNvPr id="5" name="Text 3"/>
          <p:cNvSpPr/>
          <p:nvPr/>
        </p:nvSpPr>
        <p:spPr>
          <a:xfrm>
            <a:off x="777240" y="182422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1</a:t>
            </a:r>
            <a:endParaRPr lang="en-US" sz="1232" dirty="0"/>
          </a:p>
        </p:txBody>
      </p:sp>
      <p:sp>
        <p:nvSpPr>
          <p:cNvPr id="6" name="Text 4"/>
          <p:cNvSpPr/>
          <p:nvPr/>
        </p:nvSpPr>
        <p:spPr>
          <a:xfrm>
            <a:off x="1463040" y="137160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Build a reliable ETL pipeline for 10 heterogeneous datasets</a:t>
            </a:r>
            <a:endParaRPr lang="en-US" sz="1350" dirty="0"/>
          </a:p>
        </p:txBody>
      </p:sp>
      <p:sp>
        <p:nvSpPr>
          <p:cNvPr id="7" name="Shape 5"/>
          <p:cNvSpPr/>
          <p:nvPr/>
        </p:nvSpPr>
        <p:spPr>
          <a:xfrm>
            <a:off x="6126480" y="1371600"/>
            <a:ext cx="5120640" cy="1417320"/>
          </a:xfrm>
          <a:prstGeom prst="roundRect">
            <a:avLst>
              <a:gd name="adj" fmla="val 4516"/>
            </a:avLst>
          </a:prstGeom>
          <a:solidFill>
            <a:srgbClr val="F7F9FC"/>
          </a:solidFill>
          <a:ln w="12700">
            <a:solidFill>
              <a:srgbClr val="E1E7F0"/>
            </a:solidFill>
            <a:prstDash val="solid"/>
          </a:ln>
        </p:spPr>
      </p:sp>
      <p:sp>
        <p:nvSpPr>
          <p:cNvPr id="8" name="Shape 6"/>
          <p:cNvSpPr/>
          <p:nvPr/>
        </p:nvSpPr>
        <p:spPr>
          <a:xfrm>
            <a:off x="6355080" y="1824228"/>
            <a:ext cx="512064" cy="512064"/>
          </a:xfrm>
          <a:prstGeom prst="ellipse">
            <a:avLst/>
          </a:prstGeom>
          <a:solidFill>
            <a:srgbClr val="C9A24B"/>
          </a:solidFill>
          <a:ln/>
        </p:spPr>
      </p:sp>
      <p:sp>
        <p:nvSpPr>
          <p:cNvPr id="9" name="Text 7"/>
          <p:cNvSpPr/>
          <p:nvPr/>
        </p:nvSpPr>
        <p:spPr>
          <a:xfrm>
            <a:off x="6355080" y="182422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2</a:t>
            </a:r>
            <a:endParaRPr lang="en-US" sz="1232" dirty="0"/>
          </a:p>
        </p:txBody>
      </p:sp>
      <p:sp>
        <p:nvSpPr>
          <p:cNvPr id="10" name="Text 8"/>
          <p:cNvSpPr/>
          <p:nvPr/>
        </p:nvSpPr>
        <p:spPr>
          <a:xfrm>
            <a:off x="7040880" y="137160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Clean, validate &amp; structure data into a star-schema database</a:t>
            </a:r>
            <a:endParaRPr lang="en-US" sz="1350" dirty="0"/>
          </a:p>
        </p:txBody>
      </p:sp>
      <p:sp>
        <p:nvSpPr>
          <p:cNvPr id="11" name="Shape 9"/>
          <p:cNvSpPr/>
          <p:nvPr/>
        </p:nvSpPr>
        <p:spPr>
          <a:xfrm>
            <a:off x="548640" y="3017520"/>
            <a:ext cx="5120640" cy="1417320"/>
          </a:xfrm>
          <a:prstGeom prst="roundRect">
            <a:avLst>
              <a:gd name="adj" fmla="val 4516"/>
            </a:avLst>
          </a:prstGeom>
          <a:solidFill>
            <a:srgbClr val="F7F9FC"/>
          </a:solidFill>
          <a:ln w="12700">
            <a:solidFill>
              <a:srgbClr val="E1E7F0"/>
            </a:solidFill>
            <a:prstDash val="solid"/>
          </a:ln>
        </p:spPr>
      </p:sp>
      <p:sp>
        <p:nvSpPr>
          <p:cNvPr id="12" name="Shape 10"/>
          <p:cNvSpPr/>
          <p:nvPr/>
        </p:nvSpPr>
        <p:spPr>
          <a:xfrm>
            <a:off x="777240" y="3470148"/>
            <a:ext cx="512064" cy="512064"/>
          </a:xfrm>
          <a:prstGeom prst="ellipse">
            <a:avLst/>
          </a:prstGeom>
          <a:solidFill>
            <a:srgbClr val="C9A24B"/>
          </a:solidFill>
          <a:ln/>
        </p:spPr>
      </p:sp>
      <p:sp>
        <p:nvSpPr>
          <p:cNvPr id="13" name="Text 11"/>
          <p:cNvSpPr/>
          <p:nvPr/>
        </p:nvSpPr>
        <p:spPr>
          <a:xfrm>
            <a:off x="777240" y="347014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3</a:t>
            </a:r>
            <a:endParaRPr lang="en-US" sz="1232" dirty="0"/>
          </a:p>
        </p:txBody>
      </p:sp>
      <p:sp>
        <p:nvSpPr>
          <p:cNvPr id="14" name="Text 12"/>
          <p:cNvSpPr/>
          <p:nvPr/>
        </p:nvSpPr>
        <p:spPr>
          <a:xfrm>
            <a:off x="1463040" y="301752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Compute CAGR, Sharpe, Sortino, Alpha, Beta &amp; Max Drawdown for 40 schemes</a:t>
            </a:r>
            <a:endParaRPr lang="en-US" sz="1350" dirty="0"/>
          </a:p>
        </p:txBody>
      </p:sp>
      <p:sp>
        <p:nvSpPr>
          <p:cNvPr id="15" name="Shape 13"/>
          <p:cNvSpPr/>
          <p:nvPr/>
        </p:nvSpPr>
        <p:spPr>
          <a:xfrm>
            <a:off x="6126480" y="3017520"/>
            <a:ext cx="5120640" cy="1417320"/>
          </a:xfrm>
          <a:prstGeom prst="roundRect">
            <a:avLst>
              <a:gd name="adj" fmla="val 4516"/>
            </a:avLst>
          </a:prstGeom>
          <a:solidFill>
            <a:srgbClr val="F7F9FC"/>
          </a:solidFill>
          <a:ln w="12700">
            <a:solidFill>
              <a:srgbClr val="E1E7F0"/>
            </a:solidFill>
            <a:prstDash val="solid"/>
          </a:ln>
        </p:spPr>
      </p:sp>
      <p:sp>
        <p:nvSpPr>
          <p:cNvPr id="16" name="Shape 14"/>
          <p:cNvSpPr/>
          <p:nvPr/>
        </p:nvSpPr>
        <p:spPr>
          <a:xfrm>
            <a:off x="6355080" y="3470148"/>
            <a:ext cx="512064" cy="512064"/>
          </a:xfrm>
          <a:prstGeom prst="ellipse">
            <a:avLst/>
          </a:prstGeom>
          <a:solidFill>
            <a:srgbClr val="C9A24B"/>
          </a:solidFill>
          <a:ln/>
        </p:spPr>
      </p:sp>
      <p:sp>
        <p:nvSpPr>
          <p:cNvPr id="17" name="Text 15"/>
          <p:cNvSpPr/>
          <p:nvPr/>
        </p:nvSpPr>
        <p:spPr>
          <a:xfrm>
            <a:off x="6355080" y="347014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4</a:t>
            </a:r>
            <a:endParaRPr lang="en-US" sz="1232" dirty="0"/>
          </a:p>
        </p:txBody>
      </p:sp>
      <p:sp>
        <p:nvSpPr>
          <p:cNvPr id="18" name="Text 16"/>
          <p:cNvSpPr/>
          <p:nvPr/>
        </p:nvSpPr>
        <p:spPr>
          <a:xfrm>
            <a:off x="7040880" y="301752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Benchmark schemes against market indices</a:t>
            </a:r>
            <a:endParaRPr lang="en-US" sz="1350" dirty="0"/>
          </a:p>
        </p:txBody>
      </p:sp>
      <p:sp>
        <p:nvSpPr>
          <p:cNvPr id="19" name="Shape 17"/>
          <p:cNvSpPr/>
          <p:nvPr/>
        </p:nvSpPr>
        <p:spPr>
          <a:xfrm>
            <a:off x="548640" y="4663440"/>
            <a:ext cx="5120640" cy="1417320"/>
          </a:xfrm>
          <a:prstGeom prst="roundRect">
            <a:avLst>
              <a:gd name="adj" fmla="val 4516"/>
            </a:avLst>
          </a:prstGeom>
          <a:solidFill>
            <a:srgbClr val="F7F9FC"/>
          </a:solidFill>
          <a:ln w="12700">
            <a:solidFill>
              <a:srgbClr val="E1E7F0"/>
            </a:solidFill>
            <a:prstDash val="solid"/>
          </a:ln>
        </p:spPr>
      </p:sp>
      <p:sp>
        <p:nvSpPr>
          <p:cNvPr id="20" name="Shape 18"/>
          <p:cNvSpPr/>
          <p:nvPr/>
        </p:nvSpPr>
        <p:spPr>
          <a:xfrm>
            <a:off x="777240" y="5116068"/>
            <a:ext cx="512064" cy="512064"/>
          </a:xfrm>
          <a:prstGeom prst="ellipse">
            <a:avLst/>
          </a:prstGeom>
          <a:solidFill>
            <a:srgbClr val="C9A24B"/>
          </a:solidFill>
          <a:ln/>
        </p:spPr>
      </p:sp>
      <p:sp>
        <p:nvSpPr>
          <p:cNvPr id="21" name="Text 19"/>
          <p:cNvSpPr/>
          <p:nvPr/>
        </p:nvSpPr>
        <p:spPr>
          <a:xfrm>
            <a:off x="777240" y="511606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5</a:t>
            </a:r>
            <a:endParaRPr lang="en-US" sz="1232" dirty="0"/>
          </a:p>
        </p:txBody>
      </p:sp>
      <p:sp>
        <p:nvSpPr>
          <p:cNvPr id="22" name="Text 20"/>
          <p:cNvSpPr/>
          <p:nvPr/>
        </p:nvSpPr>
        <p:spPr>
          <a:xfrm>
            <a:off x="1463040" y="466344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Design a 4-page interactive Power BI dashboard</a:t>
            </a:r>
            <a:endParaRPr lang="en-US" sz="1350" dirty="0"/>
          </a:p>
        </p:txBody>
      </p:sp>
      <p:sp>
        <p:nvSpPr>
          <p:cNvPr id="23" name="Shape 21"/>
          <p:cNvSpPr/>
          <p:nvPr/>
        </p:nvSpPr>
        <p:spPr>
          <a:xfrm>
            <a:off x="6126480" y="4663440"/>
            <a:ext cx="5120640" cy="1417320"/>
          </a:xfrm>
          <a:prstGeom prst="roundRect">
            <a:avLst>
              <a:gd name="adj" fmla="val 4516"/>
            </a:avLst>
          </a:prstGeom>
          <a:solidFill>
            <a:srgbClr val="F7F9FC"/>
          </a:solidFill>
          <a:ln w="12700">
            <a:solidFill>
              <a:srgbClr val="E1E7F0"/>
            </a:solidFill>
            <a:prstDash val="solid"/>
          </a:ln>
        </p:spPr>
      </p:sp>
      <p:sp>
        <p:nvSpPr>
          <p:cNvPr id="24" name="Shape 22"/>
          <p:cNvSpPr/>
          <p:nvPr/>
        </p:nvSpPr>
        <p:spPr>
          <a:xfrm>
            <a:off x="6355080" y="5116068"/>
            <a:ext cx="512064" cy="512064"/>
          </a:xfrm>
          <a:prstGeom prst="ellipse">
            <a:avLst/>
          </a:prstGeom>
          <a:solidFill>
            <a:srgbClr val="C9A24B"/>
          </a:solidFill>
          <a:ln/>
        </p:spPr>
      </p:sp>
      <p:sp>
        <p:nvSpPr>
          <p:cNvPr id="25" name="Text 23"/>
          <p:cNvSpPr/>
          <p:nvPr/>
        </p:nvSpPr>
        <p:spPr>
          <a:xfrm>
            <a:off x="6355080" y="5116068"/>
            <a:ext cx="512064" cy="512064"/>
          </a:xfrm>
          <a:prstGeom prst="rect">
            <a:avLst/>
          </a:prstGeom>
          <a:noFill/>
          <a:ln/>
        </p:spPr>
        <p:txBody>
          <a:bodyPr wrap="square" rtlCol="0" anchor="ctr"/>
          <a:lstStyle/>
          <a:p>
            <a:pPr marL="0" indent="0" algn="ctr">
              <a:buNone/>
            </a:pPr>
            <a:r>
              <a:rPr lang="en-US" sz="1232" b="1" dirty="0">
                <a:solidFill>
                  <a:srgbClr val="121D33"/>
                </a:solidFill>
                <a:latin typeface="Cambria" pitchFamily="34" charset="0"/>
                <a:ea typeface="Cambria" pitchFamily="34" charset="-122"/>
                <a:cs typeface="Cambria" pitchFamily="34" charset="-120"/>
              </a:rPr>
              <a:t>6</a:t>
            </a:r>
            <a:endParaRPr lang="en-US" sz="1232" dirty="0"/>
          </a:p>
        </p:txBody>
      </p:sp>
      <p:sp>
        <p:nvSpPr>
          <p:cNvPr id="26" name="Text 24"/>
          <p:cNvSpPr/>
          <p:nvPr/>
        </p:nvSpPr>
        <p:spPr>
          <a:xfrm>
            <a:off x="7040880" y="4663440"/>
            <a:ext cx="4023360" cy="1417320"/>
          </a:xfrm>
          <a:prstGeom prst="rect">
            <a:avLst/>
          </a:prstGeom>
          <a:noFill/>
          <a:ln/>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Extend into VaR, CVaR, cohort analysis &amp; a fund recommender</a:t>
            </a:r>
            <a:endParaRPr lang="en-US" sz="1350" dirty="0"/>
          </a:p>
        </p:txBody>
      </p:sp>
      <p:sp>
        <p:nvSpPr>
          <p:cNvPr id="27" name="Text 2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8" name="Text 2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D33"/>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Technology Stack</a:t>
            </a:r>
            <a:endParaRPr lang="en-US" sz="3400" dirty="0"/>
          </a:p>
        </p:txBody>
      </p:sp>
      <p:sp>
        <p:nvSpPr>
          <p:cNvPr id="3" name="Text 1"/>
          <p:cNvSpPr/>
          <p:nvPr/>
        </p:nvSpPr>
        <p:spPr>
          <a:xfrm>
            <a:off x="548640" y="1097280"/>
            <a:ext cx="10515600" cy="365760"/>
          </a:xfrm>
          <a:prstGeom prst="rect">
            <a:avLst/>
          </a:prstGeom>
          <a:noFill/>
          <a:ln/>
        </p:spPr>
        <p:txBody>
          <a:bodyPr wrap="square" rtlCol="0" anchor="ctr"/>
          <a:lstStyle/>
          <a:p>
            <a:pPr marL="0" indent="0">
              <a:buNone/>
            </a:pPr>
            <a:r>
              <a:rPr lang="en-US" sz="1400" i="1" dirty="0">
                <a:solidFill>
                  <a:srgbClr val="D8E4F5"/>
                </a:solidFill>
                <a:latin typeface="Calibri" pitchFamily="34" charset="0"/>
                <a:ea typeface="Calibri" pitchFamily="34" charset="-122"/>
                <a:cs typeface="Calibri" pitchFamily="34" charset="-120"/>
              </a:rPr>
              <a:t>A focused, industry-standard tool chain across every layer of the pipeline</a:t>
            </a:r>
            <a:endParaRPr lang="en-US" sz="1400" dirty="0"/>
          </a:p>
        </p:txBody>
      </p:sp>
      <p:sp>
        <p:nvSpPr>
          <p:cNvPr id="4" name="Shape 2"/>
          <p:cNvSpPr/>
          <p:nvPr/>
        </p:nvSpPr>
        <p:spPr>
          <a:xfrm>
            <a:off x="548640" y="1874520"/>
            <a:ext cx="2514600" cy="4160520"/>
          </a:xfrm>
          <a:prstGeom prst="roundRect">
            <a:avLst>
              <a:gd name="adj" fmla="val 2909"/>
            </a:avLst>
          </a:prstGeom>
          <a:solidFill>
            <a:srgbClr val="24345A"/>
          </a:solidFill>
          <a:ln/>
        </p:spPr>
      </p:sp>
      <p:sp>
        <p:nvSpPr>
          <p:cNvPr id="5" name="Shape 3"/>
          <p:cNvSpPr/>
          <p:nvPr/>
        </p:nvSpPr>
        <p:spPr>
          <a:xfrm>
            <a:off x="777240" y="2148840"/>
            <a:ext cx="457200" cy="54864"/>
          </a:xfrm>
          <a:prstGeom prst="rect">
            <a:avLst/>
          </a:prstGeom>
          <a:solidFill>
            <a:srgbClr val="C9A24B"/>
          </a:solidFill>
          <a:ln/>
        </p:spPr>
      </p:sp>
      <p:sp>
        <p:nvSpPr>
          <p:cNvPr id="6" name="Text 4"/>
          <p:cNvSpPr/>
          <p:nvPr/>
        </p:nvSpPr>
        <p:spPr>
          <a:xfrm>
            <a:off x="777240" y="2286000"/>
            <a:ext cx="205740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Data &amp; Analytics</a:t>
            </a:r>
            <a:endParaRPr lang="en-US" sz="1500" dirty="0"/>
          </a:p>
        </p:txBody>
      </p:sp>
      <p:sp>
        <p:nvSpPr>
          <p:cNvPr id="7" name="Text 5"/>
          <p:cNvSpPr/>
          <p:nvPr/>
        </p:nvSpPr>
        <p:spPr>
          <a:xfrm>
            <a:off x="777240" y="3108960"/>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Python 3</a:t>
            </a:r>
            <a:endParaRPr lang="en-US" sz="1300" dirty="0"/>
          </a:p>
        </p:txBody>
      </p:sp>
      <p:sp>
        <p:nvSpPr>
          <p:cNvPr id="8" name="Text 6"/>
          <p:cNvSpPr/>
          <p:nvPr/>
        </p:nvSpPr>
        <p:spPr>
          <a:xfrm>
            <a:off x="777240" y="3675888"/>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Pandas</a:t>
            </a:r>
            <a:endParaRPr lang="en-US" sz="1300" dirty="0"/>
          </a:p>
        </p:txBody>
      </p:sp>
      <p:sp>
        <p:nvSpPr>
          <p:cNvPr id="9" name="Text 7"/>
          <p:cNvSpPr/>
          <p:nvPr/>
        </p:nvSpPr>
        <p:spPr>
          <a:xfrm>
            <a:off x="777240" y="4242816"/>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NumPy</a:t>
            </a:r>
            <a:endParaRPr lang="en-US" sz="1300" dirty="0"/>
          </a:p>
        </p:txBody>
      </p:sp>
      <p:sp>
        <p:nvSpPr>
          <p:cNvPr id="10" name="Text 8"/>
          <p:cNvSpPr/>
          <p:nvPr/>
        </p:nvSpPr>
        <p:spPr>
          <a:xfrm>
            <a:off x="777240" y="4809744"/>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Jupyter Notebook</a:t>
            </a:r>
            <a:endParaRPr lang="en-US" sz="1300" dirty="0"/>
          </a:p>
        </p:txBody>
      </p:sp>
      <p:sp>
        <p:nvSpPr>
          <p:cNvPr id="11" name="Shape 9"/>
          <p:cNvSpPr/>
          <p:nvPr/>
        </p:nvSpPr>
        <p:spPr>
          <a:xfrm>
            <a:off x="3319272" y="1874520"/>
            <a:ext cx="2514600" cy="4160520"/>
          </a:xfrm>
          <a:prstGeom prst="roundRect">
            <a:avLst>
              <a:gd name="adj" fmla="val 2909"/>
            </a:avLst>
          </a:prstGeom>
          <a:solidFill>
            <a:srgbClr val="24345A"/>
          </a:solidFill>
          <a:ln/>
        </p:spPr>
      </p:sp>
      <p:sp>
        <p:nvSpPr>
          <p:cNvPr id="12" name="Shape 10"/>
          <p:cNvSpPr/>
          <p:nvPr/>
        </p:nvSpPr>
        <p:spPr>
          <a:xfrm>
            <a:off x="3547872" y="2148840"/>
            <a:ext cx="457200" cy="54864"/>
          </a:xfrm>
          <a:prstGeom prst="rect">
            <a:avLst/>
          </a:prstGeom>
          <a:solidFill>
            <a:srgbClr val="C9A24B"/>
          </a:solidFill>
          <a:ln/>
        </p:spPr>
      </p:sp>
      <p:sp>
        <p:nvSpPr>
          <p:cNvPr id="13" name="Text 11"/>
          <p:cNvSpPr/>
          <p:nvPr/>
        </p:nvSpPr>
        <p:spPr>
          <a:xfrm>
            <a:off x="3547872" y="2286000"/>
            <a:ext cx="205740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Visualisation &amp; BI</a:t>
            </a:r>
            <a:endParaRPr lang="en-US" sz="1500" dirty="0"/>
          </a:p>
        </p:txBody>
      </p:sp>
      <p:sp>
        <p:nvSpPr>
          <p:cNvPr id="14" name="Text 12"/>
          <p:cNvSpPr/>
          <p:nvPr/>
        </p:nvSpPr>
        <p:spPr>
          <a:xfrm>
            <a:off x="3547872" y="3108960"/>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Matplotlib</a:t>
            </a:r>
            <a:endParaRPr lang="en-US" sz="1300" dirty="0"/>
          </a:p>
        </p:txBody>
      </p:sp>
      <p:sp>
        <p:nvSpPr>
          <p:cNvPr id="15" name="Text 13"/>
          <p:cNvSpPr/>
          <p:nvPr/>
        </p:nvSpPr>
        <p:spPr>
          <a:xfrm>
            <a:off x="3547872" y="3675888"/>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Plotly</a:t>
            </a:r>
            <a:endParaRPr lang="en-US" sz="1300" dirty="0"/>
          </a:p>
        </p:txBody>
      </p:sp>
      <p:sp>
        <p:nvSpPr>
          <p:cNvPr id="16" name="Text 14"/>
          <p:cNvSpPr/>
          <p:nvPr/>
        </p:nvSpPr>
        <p:spPr>
          <a:xfrm>
            <a:off x="3547872" y="4242816"/>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Power BI</a:t>
            </a:r>
            <a:endParaRPr lang="en-US" sz="1300" dirty="0"/>
          </a:p>
        </p:txBody>
      </p:sp>
      <p:sp>
        <p:nvSpPr>
          <p:cNvPr id="17" name="Shape 15"/>
          <p:cNvSpPr/>
          <p:nvPr/>
        </p:nvSpPr>
        <p:spPr>
          <a:xfrm>
            <a:off x="6089904" y="1874520"/>
            <a:ext cx="2514600" cy="4160520"/>
          </a:xfrm>
          <a:prstGeom prst="roundRect">
            <a:avLst>
              <a:gd name="adj" fmla="val 2909"/>
            </a:avLst>
          </a:prstGeom>
          <a:solidFill>
            <a:srgbClr val="24345A"/>
          </a:solidFill>
          <a:ln/>
        </p:spPr>
      </p:sp>
      <p:sp>
        <p:nvSpPr>
          <p:cNvPr id="18" name="Shape 16"/>
          <p:cNvSpPr/>
          <p:nvPr/>
        </p:nvSpPr>
        <p:spPr>
          <a:xfrm>
            <a:off x="6318504" y="2148840"/>
            <a:ext cx="457200" cy="54864"/>
          </a:xfrm>
          <a:prstGeom prst="rect">
            <a:avLst/>
          </a:prstGeom>
          <a:solidFill>
            <a:srgbClr val="C9A24B"/>
          </a:solidFill>
          <a:ln/>
        </p:spPr>
      </p:sp>
      <p:sp>
        <p:nvSpPr>
          <p:cNvPr id="19" name="Text 17"/>
          <p:cNvSpPr/>
          <p:nvPr/>
        </p:nvSpPr>
        <p:spPr>
          <a:xfrm>
            <a:off x="6318504" y="2286000"/>
            <a:ext cx="205740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Database &amp; Storage</a:t>
            </a:r>
            <a:endParaRPr lang="en-US" sz="1500" dirty="0"/>
          </a:p>
        </p:txBody>
      </p:sp>
      <p:sp>
        <p:nvSpPr>
          <p:cNvPr id="20" name="Text 18"/>
          <p:cNvSpPr/>
          <p:nvPr/>
        </p:nvSpPr>
        <p:spPr>
          <a:xfrm>
            <a:off x="6318504" y="3108960"/>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SQLite</a:t>
            </a:r>
            <a:endParaRPr lang="en-US" sz="1300" dirty="0"/>
          </a:p>
        </p:txBody>
      </p:sp>
      <p:sp>
        <p:nvSpPr>
          <p:cNvPr id="21" name="Text 19"/>
          <p:cNvSpPr/>
          <p:nvPr/>
        </p:nvSpPr>
        <p:spPr>
          <a:xfrm>
            <a:off x="6318504" y="3675888"/>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SQLAlchemy</a:t>
            </a:r>
            <a:endParaRPr lang="en-US" sz="1300" dirty="0"/>
          </a:p>
        </p:txBody>
      </p:sp>
      <p:sp>
        <p:nvSpPr>
          <p:cNvPr id="22" name="Shape 20"/>
          <p:cNvSpPr/>
          <p:nvPr/>
        </p:nvSpPr>
        <p:spPr>
          <a:xfrm>
            <a:off x="8860536" y="1874520"/>
            <a:ext cx="2514600" cy="4160520"/>
          </a:xfrm>
          <a:prstGeom prst="roundRect">
            <a:avLst>
              <a:gd name="adj" fmla="val 2909"/>
            </a:avLst>
          </a:prstGeom>
          <a:solidFill>
            <a:srgbClr val="24345A"/>
          </a:solidFill>
          <a:ln/>
        </p:spPr>
      </p:sp>
      <p:sp>
        <p:nvSpPr>
          <p:cNvPr id="23" name="Shape 21"/>
          <p:cNvSpPr/>
          <p:nvPr/>
        </p:nvSpPr>
        <p:spPr>
          <a:xfrm>
            <a:off x="9089136" y="2148840"/>
            <a:ext cx="457200" cy="54864"/>
          </a:xfrm>
          <a:prstGeom prst="rect">
            <a:avLst/>
          </a:prstGeom>
          <a:solidFill>
            <a:srgbClr val="C9A24B"/>
          </a:solidFill>
          <a:ln/>
        </p:spPr>
      </p:sp>
      <p:sp>
        <p:nvSpPr>
          <p:cNvPr id="24" name="Text 22"/>
          <p:cNvSpPr/>
          <p:nvPr/>
        </p:nvSpPr>
        <p:spPr>
          <a:xfrm>
            <a:off x="9089136" y="2286000"/>
            <a:ext cx="205740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Engineering &amp; Tooling</a:t>
            </a:r>
            <a:endParaRPr lang="en-US" sz="1500" dirty="0"/>
          </a:p>
        </p:txBody>
      </p:sp>
      <p:sp>
        <p:nvSpPr>
          <p:cNvPr id="25" name="Text 23"/>
          <p:cNvSpPr/>
          <p:nvPr/>
        </p:nvSpPr>
        <p:spPr>
          <a:xfrm>
            <a:off x="9089136" y="3108960"/>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Git</a:t>
            </a:r>
            <a:endParaRPr lang="en-US" sz="1300" dirty="0"/>
          </a:p>
        </p:txBody>
      </p:sp>
      <p:sp>
        <p:nvSpPr>
          <p:cNvPr id="26" name="Text 24"/>
          <p:cNvSpPr/>
          <p:nvPr/>
        </p:nvSpPr>
        <p:spPr>
          <a:xfrm>
            <a:off x="9089136" y="3675888"/>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GitHub</a:t>
            </a:r>
            <a:endParaRPr lang="en-US" sz="1300" dirty="0"/>
          </a:p>
        </p:txBody>
      </p:sp>
      <p:sp>
        <p:nvSpPr>
          <p:cNvPr id="27" name="Text 25"/>
          <p:cNvSpPr/>
          <p:nvPr/>
        </p:nvSpPr>
        <p:spPr>
          <a:xfrm>
            <a:off x="9089136" y="4242816"/>
            <a:ext cx="2057400" cy="502920"/>
          </a:xfrm>
          <a:prstGeom prst="rect">
            <a:avLst/>
          </a:prstGeom>
          <a:noFill/>
          <a:ln/>
        </p:spPr>
        <p:txBody>
          <a:bodyPr wrap="square" rtlCol="0" anchor="ctr"/>
          <a:lstStyle/>
          <a:p>
            <a:pPr marL="152400" indent="-152400">
              <a:buSzPct val="100000"/>
              <a:buChar char="▪"/>
            </a:pPr>
            <a:r>
              <a:rPr lang="en-US" sz="1300" dirty="0">
                <a:solidFill>
                  <a:srgbClr val="D8E4F5"/>
                </a:solidFill>
                <a:latin typeface="Calibri" pitchFamily="34" charset="0"/>
                <a:ea typeface="Calibri" pitchFamily="34" charset="-122"/>
                <a:cs typeface="Calibri" pitchFamily="34" charset="-120"/>
              </a:rPr>
              <a:t>VS Code</a:t>
            </a:r>
            <a:endParaRPr lang="en-US" sz="1300" dirty="0"/>
          </a:p>
        </p:txBody>
      </p:sp>
      <p:sp>
        <p:nvSpPr>
          <p:cNvPr id="28" name="Text 26"/>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8B8"/>
                </a:solidFill>
                <a:latin typeface="Calibri" pitchFamily="34" charset="0"/>
                <a:ea typeface="Calibri" pitchFamily="34" charset="-122"/>
                <a:cs typeface="Calibri" pitchFamily="34" charset="-120"/>
              </a:rPr>
              <a:t>Bluestock Mutual Fund Analytics</a:t>
            </a:r>
            <a:endParaRPr lang="en-US" sz="900" dirty="0"/>
          </a:p>
        </p:txBody>
      </p:sp>
      <p:sp>
        <p:nvSpPr>
          <p:cNvPr id="29"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98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Architecture &amp; ETL Pipeline</a:t>
            </a:r>
            <a:endParaRPr lang="en-US" sz="3400" dirty="0"/>
          </a:p>
        </p:txBody>
      </p:sp>
      <p:sp>
        <p:nvSpPr>
          <p:cNvPr id="3" name="Text 1"/>
          <p:cNvSpPr/>
          <p:nvPr/>
        </p:nvSpPr>
        <p:spPr>
          <a:xfrm>
            <a:off x="548640" y="1143000"/>
            <a:ext cx="10515600" cy="365760"/>
          </a:xfrm>
          <a:prstGeom prst="rect">
            <a:avLst/>
          </a:prstGeom>
          <a:noFill/>
          <a:ln/>
        </p:spPr>
        <p:txBody>
          <a:bodyPr wrap="square" rtlCol="0" anchor="ctr"/>
          <a:lstStyle/>
          <a:p>
            <a:pPr marL="0" indent="0">
              <a:buNone/>
            </a:pPr>
            <a:r>
              <a:rPr lang="en-US" sz="1400" i="1" dirty="0">
                <a:solidFill>
                  <a:srgbClr val="5B6579"/>
                </a:solidFill>
                <a:latin typeface="Calibri" pitchFamily="34" charset="0"/>
                <a:ea typeface="Calibri" pitchFamily="34" charset="-122"/>
                <a:cs typeface="Calibri" pitchFamily="34" charset="-120"/>
              </a:rPr>
              <a:t>Raw data flows one-directionally through five layers into the dashboard</a:t>
            </a:r>
            <a:endParaRPr lang="en-US" sz="1400" dirty="0"/>
          </a:p>
        </p:txBody>
      </p:sp>
      <p:sp>
        <p:nvSpPr>
          <p:cNvPr id="4" name="Shape 2"/>
          <p:cNvSpPr/>
          <p:nvPr/>
        </p:nvSpPr>
        <p:spPr>
          <a:xfrm>
            <a:off x="868680" y="2377440"/>
            <a:ext cx="1783080" cy="1188720"/>
          </a:xfrm>
          <a:prstGeom prst="roundRect">
            <a:avLst>
              <a:gd name="adj" fmla="val 6923"/>
            </a:avLst>
          </a:prstGeom>
          <a:solidFill>
            <a:srgbClr val="1B2A4A"/>
          </a:solidFill>
          <a:ln/>
        </p:spPr>
      </p:sp>
      <p:sp>
        <p:nvSpPr>
          <p:cNvPr id="5" name="Text 3"/>
          <p:cNvSpPr/>
          <p:nvPr/>
        </p:nvSpPr>
        <p:spPr>
          <a:xfrm>
            <a:off x="868680" y="2377440"/>
            <a:ext cx="1783080" cy="11887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Raw CSVs</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(10 datasets)</a:t>
            </a:r>
            <a:endParaRPr lang="en-US" sz="1250" dirty="0"/>
          </a:p>
        </p:txBody>
      </p:sp>
      <p:sp>
        <p:nvSpPr>
          <p:cNvPr id="6" name="Shape 4"/>
          <p:cNvSpPr/>
          <p:nvPr/>
        </p:nvSpPr>
        <p:spPr>
          <a:xfrm>
            <a:off x="2679192" y="2871216"/>
            <a:ext cx="329184" cy="201168"/>
          </a:xfrm>
          <a:prstGeom prst="rightArrow">
            <a:avLst/>
          </a:prstGeom>
          <a:solidFill>
            <a:srgbClr val="C7CEDB"/>
          </a:solidFill>
          <a:ln/>
        </p:spPr>
      </p:sp>
      <p:sp>
        <p:nvSpPr>
          <p:cNvPr id="7" name="Shape 5"/>
          <p:cNvSpPr/>
          <p:nvPr/>
        </p:nvSpPr>
        <p:spPr>
          <a:xfrm>
            <a:off x="3035808" y="2377440"/>
            <a:ext cx="1783080" cy="1188720"/>
          </a:xfrm>
          <a:prstGeom prst="roundRect">
            <a:avLst>
              <a:gd name="adj" fmla="val 6923"/>
            </a:avLst>
          </a:prstGeom>
          <a:solidFill>
            <a:srgbClr val="44506B"/>
          </a:solidFill>
          <a:ln/>
        </p:spPr>
      </p:sp>
      <p:sp>
        <p:nvSpPr>
          <p:cNvPr id="8" name="Text 6"/>
          <p:cNvSpPr/>
          <p:nvPr/>
        </p:nvSpPr>
        <p:spPr>
          <a:xfrm>
            <a:off x="3035808" y="2377440"/>
            <a:ext cx="1783080" cy="11887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Extract &amp;</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Ingest</a:t>
            </a:r>
            <a:endParaRPr lang="en-US" sz="1250" dirty="0"/>
          </a:p>
        </p:txBody>
      </p:sp>
      <p:sp>
        <p:nvSpPr>
          <p:cNvPr id="9" name="Shape 7"/>
          <p:cNvSpPr/>
          <p:nvPr/>
        </p:nvSpPr>
        <p:spPr>
          <a:xfrm>
            <a:off x="4846320" y="2871216"/>
            <a:ext cx="329184" cy="201168"/>
          </a:xfrm>
          <a:prstGeom prst="rightArrow">
            <a:avLst/>
          </a:prstGeom>
          <a:solidFill>
            <a:srgbClr val="C7CEDB"/>
          </a:solidFill>
          <a:ln/>
        </p:spPr>
      </p:sp>
      <p:sp>
        <p:nvSpPr>
          <p:cNvPr id="10" name="Shape 8"/>
          <p:cNvSpPr/>
          <p:nvPr/>
        </p:nvSpPr>
        <p:spPr>
          <a:xfrm>
            <a:off x="5202936" y="2377440"/>
            <a:ext cx="1783080" cy="1188720"/>
          </a:xfrm>
          <a:prstGeom prst="roundRect">
            <a:avLst>
              <a:gd name="adj" fmla="val 6923"/>
            </a:avLst>
          </a:prstGeom>
          <a:solidFill>
            <a:srgbClr val="1B2A4A"/>
          </a:solidFill>
          <a:ln/>
        </p:spPr>
      </p:sp>
      <p:sp>
        <p:nvSpPr>
          <p:cNvPr id="11" name="Text 9"/>
          <p:cNvSpPr/>
          <p:nvPr/>
        </p:nvSpPr>
        <p:spPr>
          <a:xfrm>
            <a:off x="5202936" y="2377440"/>
            <a:ext cx="1783080" cy="11887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Clean &amp;</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Validate</a:t>
            </a:r>
            <a:endParaRPr lang="en-US" sz="1250" dirty="0"/>
          </a:p>
        </p:txBody>
      </p:sp>
      <p:sp>
        <p:nvSpPr>
          <p:cNvPr id="12" name="Shape 10"/>
          <p:cNvSpPr/>
          <p:nvPr/>
        </p:nvSpPr>
        <p:spPr>
          <a:xfrm>
            <a:off x="7013448" y="2871216"/>
            <a:ext cx="329184" cy="201168"/>
          </a:xfrm>
          <a:prstGeom prst="rightArrow">
            <a:avLst/>
          </a:prstGeom>
          <a:solidFill>
            <a:srgbClr val="C7CEDB"/>
          </a:solidFill>
          <a:ln/>
        </p:spPr>
      </p:sp>
      <p:sp>
        <p:nvSpPr>
          <p:cNvPr id="13" name="Shape 11"/>
          <p:cNvSpPr/>
          <p:nvPr/>
        </p:nvSpPr>
        <p:spPr>
          <a:xfrm>
            <a:off x="7370064" y="2377440"/>
            <a:ext cx="1783080" cy="1188720"/>
          </a:xfrm>
          <a:prstGeom prst="roundRect">
            <a:avLst>
              <a:gd name="adj" fmla="val 6923"/>
            </a:avLst>
          </a:prstGeom>
          <a:solidFill>
            <a:srgbClr val="44506B"/>
          </a:solidFill>
          <a:ln/>
        </p:spPr>
      </p:sp>
      <p:sp>
        <p:nvSpPr>
          <p:cNvPr id="14" name="Text 12"/>
          <p:cNvSpPr/>
          <p:nvPr/>
        </p:nvSpPr>
        <p:spPr>
          <a:xfrm>
            <a:off x="7370064" y="2377440"/>
            <a:ext cx="1783080" cy="11887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SQLite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Star Schema</a:t>
            </a:r>
            <a:endParaRPr lang="en-US" sz="1250" dirty="0"/>
          </a:p>
        </p:txBody>
      </p:sp>
      <p:sp>
        <p:nvSpPr>
          <p:cNvPr id="15" name="Shape 13"/>
          <p:cNvSpPr/>
          <p:nvPr/>
        </p:nvSpPr>
        <p:spPr>
          <a:xfrm>
            <a:off x="9180576" y="2871216"/>
            <a:ext cx="329184" cy="201168"/>
          </a:xfrm>
          <a:prstGeom prst="rightArrow">
            <a:avLst/>
          </a:prstGeom>
          <a:solidFill>
            <a:srgbClr val="C7CEDB"/>
          </a:solidFill>
          <a:ln/>
        </p:spPr>
      </p:sp>
      <p:sp>
        <p:nvSpPr>
          <p:cNvPr id="16" name="Shape 14"/>
          <p:cNvSpPr/>
          <p:nvPr/>
        </p:nvSpPr>
        <p:spPr>
          <a:xfrm>
            <a:off x="9537192" y="2377440"/>
            <a:ext cx="1783080" cy="1188720"/>
          </a:xfrm>
          <a:prstGeom prst="roundRect">
            <a:avLst>
              <a:gd name="adj" fmla="val 6923"/>
            </a:avLst>
          </a:prstGeom>
          <a:solidFill>
            <a:srgbClr val="C9A24B"/>
          </a:solidFill>
          <a:ln/>
        </p:spPr>
      </p:sp>
      <p:sp>
        <p:nvSpPr>
          <p:cNvPr id="17" name="Text 15"/>
          <p:cNvSpPr/>
          <p:nvPr/>
        </p:nvSpPr>
        <p:spPr>
          <a:xfrm>
            <a:off x="9537192" y="2377440"/>
            <a:ext cx="1783080" cy="1188720"/>
          </a:xfrm>
          <a:prstGeom prst="rect">
            <a:avLst/>
          </a:prstGeom>
          <a:noFill/>
          <a:ln/>
        </p:spPr>
        <p:txBody>
          <a:bodyPr wrap="square" rtlCol="0" anchor="ctr"/>
          <a:lstStyle/>
          <a:p>
            <a:pPr marL="0" indent="0" algn="ctr">
              <a:buNone/>
            </a:pPr>
            <a:r>
              <a:rPr lang="en-US" sz="1250" b="1" dirty="0">
                <a:solidFill>
                  <a:srgbClr val="121D33"/>
                </a:solidFill>
                <a:latin typeface="Calibri" pitchFamily="34" charset="0"/>
                <a:ea typeface="Calibri" pitchFamily="34" charset="-122"/>
                <a:cs typeface="Calibri" pitchFamily="34" charset="-120"/>
              </a:rPr>
              <a:t>Analytics &amp;</a:t>
            </a:r>
            <a:endParaRPr lang="en-US" sz="1250" dirty="0"/>
          </a:p>
          <a:p>
            <a:pPr marL="0" indent="0" algn="ctr">
              <a:buNone/>
            </a:pPr>
            <a:r>
              <a:rPr lang="en-US" sz="1250" b="1" dirty="0">
                <a:solidFill>
                  <a:srgbClr val="121D33"/>
                </a:solidFill>
                <a:latin typeface="Calibri" pitchFamily="34" charset="0"/>
                <a:ea typeface="Calibri" pitchFamily="34" charset="-122"/>
                <a:cs typeface="Calibri" pitchFamily="34" charset="-120"/>
              </a:rPr>
              <a:t>Power BI</a:t>
            </a:r>
            <a:endParaRPr lang="en-US" sz="1250" dirty="0"/>
          </a:p>
        </p:txBody>
      </p:sp>
      <p:sp>
        <p:nvSpPr>
          <p:cNvPr id="18" name="Text 16"/>
          <p:cNvSpPr/>
          <p:nvPr/>
        </p:nvSpPr>
        <p:spPr>
          <a:xfrm>
            <a:off x="548640" y="4114800"/>
            <a:ext cx="3383280" cy="32004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Extract</a:t>
            </a:r>
            <a:endParaRPr lang="en-US" sz="1400" dirty="0"/>
          </a:p>
        </p:txBody>
      </p:sp>
      <p:sp>
        <p:nvSpPr>
          <p:cNvPr id="19" name="Text 17"/>
          <p:cNvSpPr/>
          <p:nvPr/>
        </p:nvSpPr>
        <p:spPr>
          <a:xfrm>
            <a:off x="548640" y="4434840"/>
            <a:ext cx="3383280" cy="1188720"/>
          </a:xfrm>
          <a:prstGeom prst="rect">
            <a:avLst/>
          </a:prstGeom>
          <a:noFill/>
          <a:ln/>
        </p:spPr>
        <p:txBody>
          <a:bodyPr wrap="square" rtlCol="0" anchor="ctr"/>
          <a:lstStyle/>
          <a:p>
            <a:pPr marL="0" indent="0">
              <a:buNone/>
            </a:pPr>
            <a:r>
              <a:rPr lang="en-US" sz="1200" dirty="0">
                <a:solidFill>
                  <a:srgbClr val="5B6579"/>
                </a:solidFill>
                <a:latin typeface="Calibri" pitchFamily="34" charset="0"/>
                <a:ea typeface="Calibri" pitchFamily="34" charset="-122"/>
                <a:cs typeface="Calibri" pitchFamily="34" charset="-120"/>
              </a:rPr>
              <a:t>Pandas reads all 10 CSVs; a live NAV-fetch routine supplements historical data.</a:t>
            </a:r>
            <a:endParaRPr lang="en-US" sz="1200" dirty="0"/>
          </a:p>
        </p:txBody>
      </p:sp>
      <p:sp>
        <p:nvSpPr>
          <p:cNvPr id="20" name="Text 18"/>
          <p:cNvSpPr/>
          <p:nvPr/>
        </p:nvSpPr>
        <p:spPr>
          <a:xfrm>
            <a:off x="4434840" y="4114800"/>
            <a:ext cx="3383280" cy="32004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Transform</a:t>
            </a:r>
            <a:endParaRPr lang="en-US" sz="1400" dirty="0"/>
          </a:p>
        </p:txBody>
      </p:sp>
      <p:sp>
        <p:nvSpPr>
          <p:cNvPr id="21" name="Text 19"/>
          <p:cNvSpPr/>
          <p:nvPr/>
        </p:nvSpPr>
        <p:spPr>
          <a:xfrm>
            <a:off x="4434840" y="4434840"/>
            <a:ext cx="3383280" cy="1188720"/>
          </a:xfrm>
          <a:prstGeom prst="rect">
            <a:avLst/>
          </a:prstGeom>
          <a:noFill/>
          <a:ln/>
        </p:spPr>
        <p:txBody>
          <a:bodyPr wrap="square" rtlCol="0" anchor="ctr"/>
          <a:lstStyle/>
          <a:p>
            <a:pPr marL="0" indent="0">
              <a:buNone/>
            </a:pPr>
            <a:r>
              <a:rPr lang="en-US" sz="1200" dirty="0">
                <a:solidFill>
                  <a:srgbClr val="5B6579"/>
                </a:solidFill>
                <a:latin typeface="Calibri" pitchFamily="34" charset="0"/>
                <a:ea typeface="Calibri" pitchFamily="34" charset="-122"/>
                <a:cs typeface="Calibri" pitchFamily="34" charset="-120"/>
              </a:rPr>
              <a:t>Standardises dates, harmonises fund IDs, and applies the cleaning rules (Slide 6).</a:t>
            </a:r>
            <a:endParaRPr lang="en-US" sz="1200" dirty="0"/>
          </a:p>
        </p:txBody>
      </p:sp>
      <p:sp>
        <p:nvSpPr>
          <p:cNvPr id="22" name="Text 20"/>
          <p:cNvSpPr/>
          <p:nvPr/>
        </p:nvSpPr>
        <p:spPr>
          <a:xfrm>
            <a:off x="8321040" y="4114800"/>
            <a:ext cx="3291840" cy="32004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Load</a:t>
            </a:r>
            <a:endParaRPr lang="en-US" sz="1400" dirty="0"/>
          </a:p>
        </p:txBody>
      </p:sp>
      <p:sp>
        <p:nvSpPr>
          <p:cNvPr id="23" name="Text 21"/>
          <p:cNvSpPr/>
          <p:nvPr/>
        </p:nvSpPr>
        <p:spPr>
          <a:xfrm>
            <a:off x="8321040" y="4434840"/>
            <a:ext cx="3291840" cy="1188720"/>
          </a:xfrm>
          <a:prstGeom prst="rect">
            <a:avLst/>
          </a:prstGeom>
          <a:noFill/>
          <a:ln/>
        </p:spPr>
        <p:txBody>
          <a:bodyPr wrap="square" rtlCol="0" anchor="ctr"/>
          <a:lstStyle/>
          <a:p>
            <a:pPr marL="0" indent="0">
              <a:buNone/>
            </a:pPr>
            <a:r>
              <a:rPr lang="en-US" sz="1200" dirty="0">
                <a:solidFill>
                  <a:srgbClr val="5B6579"/>
                </a:solidFill>
                <a:latin typeface="Calibri" pitchFamily="34" charset="0"/>
                <a:ea typeface="Calibri" pitchFamily="34" charset="-122"/>
                <a:cs typeface="Calibri" pitchFamily="34" charset="-120"/>
              </a:rPr>
              <a:t>SQLAlchemy loads cleaned tables into a SQLite star schema with enforced keys.</a:t>
            </a:r>
            <a:endParaRPr lang="en-US" sz="120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Data Cleaning &amp; Exploratory Analysis</a:t>
            </a:r>
            <a:endParaRPr lang="en-US" sz="3400" dirty="0"/>
          </a:p>
        </p:txBody>
      </p:sp>
      <p:sp>
        <p:nvSpPr>
          <p:cNvPr id="3" name="Shape 1"/>
          <p:cNvSpPr/>
          <p:nvPr/>
        </p:nvSpPr>
        <p:spPr>
          <a:xfrm>
            <a:off x="548640" y="1234440"/>
            <a:ext cx="5212080" cy="4937760"/>
          </a:xfrm>
          <a:prstGeom prst="roundRect">
            <a:avLst>
              <a:gd name="adj" fmla="val 1481"/>
            </a:avLst>
          </a:prstGeom>
          <a:solidFill>
            <a:srgbClr val="FFFFFF"/>
          </a:solidFill>
          <a:ln w="12700">
            <a:solidFill>
              <a:srgbClr val="E1E7F0"/>
            </a:solidFill>
            <a:prstDash val="solid"/>
          </a:ln>
        </p:spPr>
      </p:sp>
      <p:sp>
        <p:nvSpPr>
          <p:cNvPr id="4" name="Text 2"/>
          <p:cNvSpPr/>
          <p:nvPr/>
        </p:nvSpPr>
        <p:spPr>
          <a:xfrm>
            <a:off x="868680" y="1463040"/>
            <a:ext cx="4572000" cy="457200"/>
          </a:xfrm>
          <a:prstGeom prst="rect">
            <a:avLst/>
          </a:prstGeom>
          <a:noFill/>
          <a:ln/>
        </p:spPr>
        <p:txBody>
          <a:bodyPr wrap="square"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Data Cleaning</a:t>
            </a:r>
            <a:endParaRPr lang="en-US" sz="1700" dirty="0"/>
          </a:p>
        </p:txBody>
      </p:sp>
      <p:sp>
        <p:nvSpPr>
          <p:cNvPr id="5" name="Shape 3"/>
          <p:cNvSpPr/>
          <p:nvPr/>
        </p:nvSpPr>
        <p:spPr>
          <a:xfrm>
            <a:off x="868680" y="2057400"/>
            <a:ext cx="384048" cy="384048"/>
          </a:xfrm>
          <a:prstGeom prst="ellipse">
            <a:avLst/>
          </a:prstGeom>
          <a:solidFill>
            <a:srgbClr val="C9A24B"/>
          </a:solidFill>
          <a:ln/>
        </p:spPr>
      </p:sp>
      <p:sp>
        <p:nvSpPr>
          <p:cNvPr id="6" name="Text 4"/>
          <p:cNvSpPr/>
          <p:nvPr/>
        </p:nvSpPr>
        <p:spPr>
          <a:xfrm>
            <a:off x="868680" y="2057400"/>
            <a:ext cx="384048" cy="384048"/>
          </a:xfrm>
          <a:prstGeom prst="rect">
            <a:avLst/>
          </a:prstGeom>
          <a:noFill/>
          <a:ln/>
        </p:spPr>
        <p:txBody>
          <a:bodyPr wrap="square" rtlCol="0" anchor="ctr"/>
          <a:lstStyle/>
          <a:p>
            <a:pPr marL="0" indent="0" algn="ctr">
              <a:buNone/>
            </a:pPr>
            <a:r>
              <a:rPr lang="en-US" sz="924" b="1" dirty="0">
                <a:solidFill>
                  <a:srgbClr val="121D33"/>
                </a:solidFill>
                <a:latin typeface="Cambria" pitchFamily="34" charset="0"/>
                <a:ea typeface="Cambria" pitchFamily="34" charset="-122"/>
                <a:cs typeface="Cambria" pitchFamily="34" charset="-120"/>
              </a:rPr>
              <a:t>✓</a:t>
            </a:r>
            <a:endParaRPr lang="en-US" sz="924" dirty="0"/>
          </a:p>
        </p:txBody>
      </p:sp>
      <p:sp>
        <p:nvSpPr>
          <p:cNvPr id="7" name="Text 5"/>
          <p:cNvSpPr/>
          <p:nvPr/>
        </p:nvSpPr>
        <p:spPr>
          <a:xfrm>
            <a:off x="1417320" y="2002536"/>
            <a:ext cx="411480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Missing Values</a:t>
            </a:r>
            <a:endParaRPr lang="en-US" sz="1350" dirty="0"/>
          </a:p>
        </p:txBody>
      </p:sp>
      <p:sp>
        <p:nvSpPr>
          <p:cNvPr id="8" name="Text 6"/>
          <p:cNvSpPr/>
          <p:nvPr/>
        </p:nvSpPr>
        <p:spPr>
          <a:xfrm>
            <a:off x="1417320" y="2313432"/>
            <a:ext cx="4206240" cy="548640"/>
          </a:xfrm>
          <a:prstGeom prst="rect">
            <a:avLst/>
          </a:prstGeom>
          <a:noFill/>
          <a:ln/>
        </p:spPr>
        <p:txBody>
          <a:bodyPr wrap="square" rtlCol="0" anchor="ctr"/>
          <a:lstStyle/>
          <a:p>
            <a:pPr marL="0" indent="0">
              <a:buNone/>
            </a:pPr>
            <a:r>
              <a:rPr lang="en-US" sz="1100" dirty="0">
                <a:solidFill>
                  <a:srgbClr val="5B6579"/>
                </a:solidFill>
                <a:latin typeface="Calibri" pitchFamily="34" charset="0"/>
                <a:ea typeface="Calibri" pitchFamily="34" charset="-122"/>
                <a:cs typeface="Calibri" pitchFamily="34" charset="-120"/>
              </a:rPr>
              <a:t>Forward-fill for NAV time series; flagged unresolved categorical gaps</a:t>
            </a:r>
            <a:endParaRPr lang="en-US" sz="1100" dirty="0"/>
          </a:p>
        </p:txBody>
      </p:sp>
      <p:sp>
        <p:nvSpPr>
          <p:cNvPr id="9" name="Shape 7"/>
          <p:cNvSpPr/>
          <p:nvPr/>
        </p:nvSpPr>
        <p:spPr>
          <a:xfrm>
            <a:off x="868680" y="3017520"/>
            <a:ext cx="384048" cy="384048"/>
          </a:xfrm>
          <a:prstGeom prst="ellipse">
            <a:avLst/>
          </a:prstGeom>
          <a:solidFill>
            <a:srgbClr val="C9A24B"/>
          </a:solidFill>
          <a:ln/>
        </p:spPr>
      </p:sp>
      <p:sp>
        <p:nvSpPr>
          <p:cNvPr id="10" name="Text 8"/>
          <p:cNvSpPr/>
          <p:nvPr/>
        </p:nvSpPr>
        <p:spPr>
          <a:xfrm>
            <a:off x="868680" y="3017520"/>
            <a:ext cx="384048" cy="384048"/>
          </a:xfrm>
          <a:prstGeom prst="rect">
            <a:avLst/>
          </a:prstGeom>
          <a:noFill/>
          <a:ln/>
        </p:spPr>
        <p:txBody>
          <a:bodyPr wrap="square" rtlCol="0" anchor="ctr"/>
          <a:lstStyle/>
          <a:p>
            <a:pPr marL="0" indent="0" algn="ctr">
              <a:buNone/>
            </a:pPr>
            <a:r>
              <a:rPr lang="en-US" sz="924" b="1" dirty="0">
                <a:solidFill>
                  <a:srgbClr val="121D33"/>
                </a:solidFill>
                <a:latin typeface="Cambria" pitchFamily="34" charset="0"/>
                <a:ea typeface="Cambria" pitchFamily="34" charset="-122"/>
                <a:cs typeface="Cambria" pitchFamily="34" charset="-120"/>
              </a:rPr>
              <a:t>✓</a:t>
            </a:r>
            <a:endParaRPr lang="en-US" sz="924" dirty="0"/>
          </a:p>
        </p:txBody>
      </p:sp>
      <p:sp>
        <p:nvSpPr>
          <p:cNvPr id="11" name="Text 9"/>
          <p:cNvSpPr/>
          <p:nvPr/>
        </p:nvSpPr>
        <p:spPr>
          <a:xfrm>
            <a:off x="1417320" y="2962656"/>
            <a:ext cx="411480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Duplicates</a:t>
            </a:r>
            <a:endParaRPr lang="en-US" sz="1350" dirty="0"/>
          </a:p>
        </p:txBody>
      </p:sp>
      <p:sp>
        <p:nvSpPr>
          <p:cNvPr id="12" name="Text 10"/>
          <p:cNvSpPr/>
          <p:nvPr/>
        </p:nvSpPr>
        <p:spPr>
          <a:xfrm>
            <a:off x="1417320" y="3273552"/>
            <a:ext cx="4206240" cy="548640"/>
          </a:xfrm>
          <a:prstGeom prst="rect">
            <a:avLst/>
          </a:prstGeom>
          <a:noFill/>
          <a:ln/>
        </p:spPr>
        <p:txBody>
          <a:bodyPr wrap="square" rtlCol="0" anchor="ctr"/>
          <a:lstStyle/>
          <a:p>
            <a:pPr marL="0" indent="0">
              <a:buNone/>
            </a:pPr>
            <a:r>
              <a:rPr lang="en-US" sz="1100" dirty="0">
                <a:solidFill>
                  <a:srgbClr val="5B6579"/>
                </a:solidFill>
                <a:latin typeface="Calibri" pitchFamily="34" charset="0"/>
                <a:ea typeface="Calibri" pitchFamily="34" charset="-122"/>
                <a:cs typeface="Calibri" pitchFamily="34" charset="-120"/>
              </a:rPr>
              <a:t>Removed using composite keys (scheme code + date / transaction ID)</a:t>
            </a:r>
            <a:endParaRPr lang="en-US" sz="1100" dirty="0"/>
          </a:p>
        </p:txBody>
      </p:sp>
      <p:sp>
        <p:nvSpPr>
          <p:cNvPr id="13" name="Shape 11"/>
          <p:cNvSpPr/>
          <p:nvPr/>
        </p:nvSpPr>
        <p:spPr>
          <a:xfrm>
            <a:off x="868680" y="3977640"/>
            <a:ext cx="384048" cy="384048"/>
          </a:xfrm>
          <a:prstGeom prst="ellipse">
            <a:avLst/>
          </a:prstGeom>
          <a:solidFill>
            <a:srgbClr val="C9A24B"/>
          </a:solidFill>
          <a:ln/>
        </p:spPr>
      </p:sp>
      <p:sp>
        <p:nvSpPr>
          <p:cNvPr id="14" name="Text 12"/>
          <p:cNvSpPr/>
          <p:nvPr/>
        </p:nvSpPr>
        <p:spPr>
          <a:xfrm>
            <a:off x="868680" y="3977640"/>
            <a:ext cx="384048" cy="384048"/>
          </a:xfrm>
          <a:prstGeom prst="rect">
            <a:avLst/>
          </a:prstGeom>
          <a:noFill/>
          <a:ln/>
        </p:spPr>
        <p:txBody>
          <a:bodyPr wrap="square" rtlCol="0" anchor="ctr"/>
          <a:lstStyle/>
          <a:p>
            <a:pPr marL="0" indent="0" algn="ctr">
              <a:buNone/>
            </a:pPr>
            <a:r>
              <a:rPr lang="en-US" sz="924" b="1" dirty="0">
                <a:solidFill>
                  <a:srgbClr val="121D33"/>
                </a:solidFill>
                <a:latin typeface="Cambria" pitchFamily="34" charset="0"/>
                <a:ea typeface="Cambria" pitchFamily="34" charset="-122"/>
                <a:cs typeface="Cambria" pitchFamily="34" charset="-120"/>
              </a:rPr>
              <a:t>✓</a:t>
            </a:r>
            <a:endParaRPr lang="en-US" sz="924" dirty="0"/>
          </a:p>
        </p:txBody>
      </p:sp>
      <p:sp>
        <p:nvSpPr>
          <p:cNvPr id="15" name="Text 13"/>
          <p:cNvSpPr/>
          <p:nvPr/>
        </p:nvSpPr>
        <p:spPr>
          <a:xfrm>
            <a:off x="1417320" y="3922776"/>
            <a:ext cx="411480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Date Formatting</a:t>
            </a:r>
            <a:endParaRPr lang="en-US" sz="1350" dirty="0"/>
          </a:p>
        </p:txBody>
      </p:sp>
      <p:sp>
        <p:nvSpPr>
          <p:cNvPr id="16" name="Text 14"/>
          <p:cNvSpPr/>
          <p:nvPr/>
        </p:nvSpPr>
        <p:spPr>
          <a:xfrm>
            <a:off x="1417320" y="4233672"/>
            <a:ext cx="4206240" cy="548640"/>
          </a:xfrm>
          <a:prstGeom prst="rect">
            <a:avLst/>
          </a:prstGeom>
          <a:noFill/>
          <a:ln/>
        </p:spPr>
        <p:txBody>
          <a:bodyPr wrap="square" rtlCol="0" anchor="ctr"/>
          <a:lstStyle/>
          <a:p>
            <a:pPr marL="0" indent="0">
              <a:buNone/>
            </a:pPr>
            <a:r>
              <a:rPr lang="en-US" sz="1100" dirty="0">
                <a:solidFill>
                  <a:srgbClr val="5B6579"/>
                </a:solidFill>
                <a:latin typeface="Calibri" pitchFamily="34" charset="0"/>
                <a:ea typeface="Calibri" pitchFamily="34" charset="-122"/>
                <a:cs typeface="Calibri" pitchFamily="34" charset="-120"/>
              </a:rPr>
              <a:t>Standardised all date fields to ISO 8601 (YYYY-MM-DD)</a:t>
            </a:r>
            <a:endParaRPr lang="en-US" sz="1100" dirty="0"/>
          </a:p>
        </p:txBody>
      </p:sp>
      <p:sp>
        <p:nvSpPr>
          <p:cNvPr id="17" name="Shape 15"/>
          <p:cNvSpPr/>
          <p:nvPr/>
        </p:nvSpPr>
        <p:spPr>
          <a:xfrm>
            <a:off x="868680" y="4937760"/>
            <a:ext cx="384048" cy="384048"/>
          </a:xfrm>
          <a:prstGeom prst="ellipse">
            <a:avLst/>
          </a:prstGeom>
          <a:solidFill>
            <a:srgbClr val="C9A24B"/>
          </a:solidFill>
          <a:ln/>
        </p:spPr>
      </p:sp>
      <p:sp>
        <p:nvSpPr>
          <p:cNvPr id="18" name="Text 16"/>
          <p:cNvSpPr/>
          <p:nvPr/>
        </p:nvSpPr>
        <p:spPr>
          <a:xfrm>
            <a:off x="868680" y="4937760"/>
            <a:ext cx="384048" cy="384048"/>
          </a:xfrm>
          <a:prstGeom prst="rect">
            <a:avLst/>
          </a:prstGeom>
          <a:noFill/>
          <a:ln/>
        </p:spPr>
        <p:txBody>
          <a:bodyPr wrap="square" rtlCol="0" anchor="ctr"/>
          <a:lstStyle/>
          <a:p>
            <a:pPr marL="0" indent="0" algn="ctr">
              <a:buNone/>
            </a:pPr>
            <a:r>
              <a:rPr lang="en-US" sz="924" b="1" dirty="0">
                <a:solidFill>
                  <a:srgbClr val="121D33"/>
                </a:solidFill>
                <a:latin typeface="Cambria" pitchFamily="34" charset="0"/>
                <a:ea typeface="Cambria" pitchFamily="34" charset="-122"/>
                <a:cs typeface="Cambria" pitchFamily="34" charset="-120"/>
              </a:rPr>
              <a:t>✓</a:t>
            </a:r>
            <a:endParaRPr lang="en-US" sz="924" dirty="0"/>
          </a:p>
        </p:txBody>
      </p:sp>
      <p:sp>
        <p:nvSpPr>
          <p:cNvPr id="19" name="Text 17"/>
          <p:cNvSpPr/>
          <p:nvPr/>
        </p:nvSpPr>
        <p:spPr>
          <a:xfrm>
            <a:off x="1417320" y="4882896"/>
            <a:ext cx="4114800" cy="320040"/>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Validation</a:t>
            </a:r>
            <a:endParaRPr lang="en-US" sz="1350" dirty="0"/>
          </a:p>
        </p:txBody>
      </p:sp>
      <p:sp>
        <p:nvSpPr>
          <p:cNvPr id="20" name="Text 18"/>
          <p:cNvSpPr/>
          <p:nvPr/>
        </p:nvSpPr>
        <p:spPr>
          <a:xfrm>
            <a:off x="1417320" y="5193792"/>
            <a:ext cx="4206240" cy="548640"/>
          </a:xfrm>
          <a:prstGeom prst="rect">
            <a:avLst/>
          </a:prstGeom>
          <a:noFill/>
          <a:ln/>
        </p:spPr>
        <p:txBody>
          <a:bodyPr wrap="square" rtlCol="0" anchor="ctr"/>
          <a:lstStyle/>
          <a:p>
            <a:pPr marL="0" indent="0">
              <a:buNone/>
            </a:pPr>
            <a:r>
              <a:rPr lang="en-US" sz="1100" dirty="0">
                <a:solidFill>
                  <a:srgbClr val="5B6579"/>
                </a:solidFill>
                <a:latin typeface="Calibri" pitchFamily="34" charset="0"/>
                <a:ea typeface="Calibri" pitchFamily="34" charset="-122"/>
                <a:cs typeface="Calibri" pitchFamily="34" charset="-120"/>
              </a:rPr>
              <a:t>Business-rule checks: positive NAV, non-negative AUM, valid date ranges</a:t>
            </a:r>
            <a:endParaRPr lang="en-US" sz="1100" dirty="0"/>
          </a:p>
        </p:txBody>
      </p:sp>
      <p:sp>
        <p:nvSpPr>
          <p:cNvPr id="21" name="Shape 19"/>
          <p:cNvSpPr/>
          <p:nvPr/>
        </p:nvSpPr>
        <p:spPr>
          <a:xfrm>
            <a:off x="5989320" y="1234440"/>
            <a:ext cx="5669280" cy="4937760"/>
          </a:xfrm>
          <a:prstGeom prst="roundRect">
            <a:avLst>
              <a:gd name="adj" fmla="val 1481"/>
            </a:avLst>
          </a:prstGeom>
          <a:solidFill>
            <a:srgbClr val="FFFFFF"/>
          </a:solidFill>
          <a:ln w="12700">
            <a:solidFill>
              <a:srgbClr val="E1E7F0"/>
            </a:solidFill>
            <a:prstDash val="solid"/>
          </a:ln>
        </p:spPr>
      </p:sp>
      <p:sp>
        <p:nvSpPr>
          <p:cNvPr id="22" name="Text 20"/>
          <p:cNvSpPr/>
          <p:nvPr/>
        </p:nvSpPr>
        <p:spPr>
          <a:xfrm>
            <a:off x="6309360" y="1417320"/>
            <a:ext cx="5120640" cy="41148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Exploratory Analysis — NAV Trend Example</a:t>
            </a:r>
            <a:endParaRPr lang="en-US" sz="1500" dirty="0"/>
          </a:p>
        </p:txBody>
      </p:sp>
      <p:graphicFrame>
        <p:nvGraphicFramePr>
          <p:cNvPr id="23" name="Chart 0"/>
          <p:cNvGraphicFramePr/>
          <p:nvPr/>
        </p:nvGraphicFramePr>
        <p:xfrm>
          <a:off x="6309360" y="1920240"/>
          <a:ext cx="5074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5" name="Text 2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Performance Analytics</a:t>
            </a:r>
            <a:endParaRPr lang="en-US" sz="3400" dirty="0"/>
          </a:p>
        </p:txBody>
      </p:sp>
      <p:sp>
        <p:nvSpPr>
          <p:cNvPr id="3" name="Text 1"/>
          <p:cNvSpPr/>
          <p:nvPr/>
        </p:nvSpPr>
        <p:spPr>
          <a:xfrm>
            <a:off x="548640" y="1143000"/>
            <a:ext cx="10515600" cy="365760"/>
          </a:xfrm>
          <a:prstGeom prst="rect">
            <a:avLst/>
          </a:prstGeom>
          <a:noFill/>
          <a:ln/>
        </p:spPr>
        <p:txBody>
          <a:bodyPr wrap="square" rtlCol="0" anchor="ctr"/>
          <a:lstStyle/>
          <a:p>
            <a:pPr marL="0" indent="0">
              <a:buNone/>
            </a:pPr>
            <a:r>
              <a:rPr lang="en-US" sz="1400" i="1" dirty="0">
                <a:solidFill>
                  <a:srgbClr val="5B6579"/>
                </a:solidFill>
                <a:latin typeface="Calibri" pitchFamily="34" charset="0"/>
                <a:ea typeface="Calibri" pitchFamily="34" charset="-122"/>
                <a:cs typeface="Calibri" pitchFamily="34" charset="-120"/>
              </a:rPr>
              <a:t>Seven metrics computed for all 40 schemes, consolidated into a Fund Scorecard</a:t>
            </a:r>
            <a:endParaRPr lang="en-US" sz="1400" dirty="0"/>
          </a:p>
        </p:txBody>
      </p:sp>
      <p:sp>
        <p:nvSpPr>
          <p:cNvPr id="4" name="Shape 2"/>
          <p:cNvSpPr/>
          <p:nvPr/>
        </p:nvSpPr>
        <p:spPr>
          <a:xfrm>
            <a:off x="548640" y="1874520"/>
            <a:ext cx="3383280" cy="1417320"/>
          </a:xfrm>
          <a:prstGeom prst="roundRect">
            <a:avLst>
              <a:gd name="adj" fmla="val 4516"/>
            </a:avLst>
          </a:prstGeom>
          <a:solidFill>
            <a:srgbClr val="1B2A4A"/>
          </a:solidFill>
          <a:ln/>
        </p:spPr>
      </p:sp>
      <p:sp>
        <p:nvSpPr>
          <p:cNvPr id="5" name="Text 3"/>
          <p:cNvSpPr/>
          <p:nvPr/>
        </p:nvSpPr>
        <p:spPr>
          <a:xfrm>
            <a:off x="777240" y="2011680"/>
            <a:ext cx="2926080" cy="411480"/>
          </a:xfrm>
          <a:prstGeom prst="rect">
            <a:avLst/>
          </a:prstGeom>
          <a:noFill/>
          <a:ln/>
        </p:spPr>
        <p:txBody>
          <a:bodyPr wrap="square" rtlCol="0" anchor="ctr"/>
          <a:lstStyle/>
          <a:p>
            <a:pPr marL="0" indent="0">
              <a:buNone/>
            </a:pPr>
            <a:r>
              <a:rPr lang="en-US" sz="1500" b="1" dirty="0">
                <a:solidFill>
                  <a:srgbClr val="C9A24B"/>
                </a:solidFill>
                <a:latin typeface="Cambria" pitchFamily="34" charset="0"/>
                <a:ea typeface="Cambria" pitchFamily="34" charset="-122"/>
                <a:cs typeface="Cambria" pitchFamily="34" charset="-120"/>
              </a:rPr>
              <a:t>Daily Returns</a:t>
            </a:r>
            <a:endParaRPr lang="en-US" sz="1500" dirty="0"/>
          </a:p>
        </p:txBody>
      </p:sp>
      <p:sp>
        <p:nvSpPr>
          <p:cNvPr id="6" name="Text 4"/>
          <p:cNvSpPr/>
          <p:nvPr/>
        </p:nvSpPr>
        <p:spPr>
          <a:xfrm>
            <a:off x="777240" y="2441448"/>
            <a:ext cx="2926080" cy="77724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Base series for every downstream ratio</a:t>
            </a:r>
            <a:endParaRPr lang="en-US" sz="1150" dirty="0"/>
          </a:p>
        </p:txBody>
      </p:sp>
      <p:sp>
        <p:nvSpPr>
          <p:cNvPr id="7" name="Shape 5"/>
          <p:cNvSpPr/>
          <p:nvPr/>
        </p:nvSpPr>
        <p:spPr>
          <a:xfrm>
            <a:off x="4206240" y="1874520"/>
            <a:ext cx="3383280" cy="1417320"/>
          </a:xfrm>
          <a:prstGeom prst="roundRect">
            <a:avLst>
              <a:gd name="adj" fmla="val 4516"/>
            </a:avLst>
          </a:prstGeom>
          <a:solidFill>
            <a:srgbClr val="1B2A4A"/>
          </a:solidFill>
          <a:ln/>
        </p:spPr>
      </p:sp>
      <p:sp>
        <p:nvSpPr>
          <p:cNvPr id="8" name="Text 6"/>
          <p:cNvSpPr/>
          <p:nvPr/>
        </p:nvSpPr>
        <p:spPr>
          <a:xfrm>
            <a:off x="4434840" y="2011680"/>
            <a:ext cx="2926080" cy="411480"/>
          </a:xfrm>
          <a:prstGeom prst="rect">
            <a:avLst/>
          </a:prstGeom>
          <a:noFill/>
          <a:ln/>
        </p:spPr>
        <p:txBody>
          <a:bodyPr wrap="square" rtlCol="0" anchor="ctr"/>
          <a:lstStyle/>
          <a:p>
            <a:pPr marL="0" indent="0">
              <a:buNone/>
            </a:pPr>
            <a:r>
              <a:rPr lang="en-US" sz="1500" b="1" dirty="0">
                <a:solidFill>
                  <a:srgbClr val="C9A24B"/>
                </a:solidFill>
                <a:latin typeface="Cambria" pitchFamily="34" charset="0"/>
                <a:ea typeface="Cambria" pitchFamily="34" charset="-122"/>
                <a:cs typeface="Cambria" pitchFamily="34" charset="-120"/>
              </a:rPr>
              <a:t>CAGR (1Y / 3Y)</a:t>
            </a:r>
            <a:endParaRPr lang="en-US" sz="1500" dirty="0"/>
          </a:p>
        </p:txBody>
      </p:sp>
      <p:sp>
        <p:nvSpPr>
          <p:cNvPr id="9" name="Text 7"/>
          <p:cNvSpPr/>
          <p:nvPr/>
        </p:nvSpPr>
        <p:spPr>
          <a:xfrm>
            <a:off x="4434840" y="2441448"/>
            <a:ext cx="2926080" cy="77724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Annualised growth rate over 1 &amp; 3-year windows</a:t>
            </a:r>
            <a:endParaRPr lang="en-US" sz="1150" dirty="0"/>
          </a:p>
        </p:txBody>
      </p:sp>
      <p:sp>
        <p:nvSpPr>
          <p:cNvPr id="10" name="Shape 8"/>
          <p:cNvSpPr/>
          <p:nvPr/>
        </p:nvSpPr>
        <p:spPr>
          <a:xfrm>
            <a:off x="7863840" y="1874520"/>
            <a:ext cx="3383280" cy="1417320"/>
          </a:xfrm>
          <a:prstGeom prst="roundRect">
            <a:avLst>
              <a:gd name="adj" fmla="val 4516"/>
            </a:avLst>
          </a:prstGeom>
          <a:solidFill>
            <a:srgbClr val="1B2A4A"/>
          </a:solidFill>
          <a:ln/>
        </p:spPr>
      </p:sp>
      <p:sp>
        <p:nvSpPr>
          <p:cNvPr id="11" name="Text 9"/>
          <p:cNvSpPr/>
          <p:nvPr/>
        </p:nvSpPr>
        <p:spPr>
          <a:xfrm>
            <a:off x="8092440" y="2011680"/>
            <a:ext cx="2926080" cy="411480"/>
          </a:xfrm>
          <a:prstGeom prst="rect">
            <a:avLst/>
          </a:prstGeom>
          <a:noFill/>
          <a:ln/>
        </p:spPr>
        <p:txBody>
          <a:bodyPr wrap="square" rtlCol="0" anchor="ctr"/>
          <a:lstStyle/>
          <a:p>
            <a:pPr marL="0" indent="0">
              <a:buNone/>
            </a:pPr>
            <a:r>
              <a:rPr lang="en-US" sz="1500" b="1" dirty="0">
                <a:solidFill>
                  <a:srgbClr val="C9A24B"/>
                </a:solidFill>
                <a:latin typeface="Cambria" pitchFamily="34" charset="0"/>
                <a:ea typeface="Cambria" pitchFamily="34" charset="-122"/>
                <a:cs typeface="Cambria" pitchFamily="34" charset="-120"/>
              </a:rPr>
              <a:t>Sharpe Ratio</a:t>
            </a:r>
            <a:endParaRPr lang="en-US" sz="1500" dirty="0"/>
          </a:p>
        </p:txBody>
      </p:sp>
      <p:sp>
        <p:nvSpPr>
          <p:cNvPr id="12" name="Text 10"/>
          <p:cNvSpPr/>
          <p:nvPr/>
        </p:nvSpPr>
        <p:spPr>
          <a:xfrm>
            <a:off x="8092440" y="2441448"/>
            <a:ext cx="2926080" cy="77724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Excess return per unit of total volatility</a:t>
            </a:r>
            <a:endParaRPr lang="en-US" sz="1150" dirty="0"/>
          </a:p>
        </p:txBody>
      </p:sp>
      <p:sp>
        <p:nvSpPr>
          <p:cNvPr id="13" name="Shape 11"/>
          <p:cNvSpPr/>
          <p:nvPr/>
        </p:nvSpPr>
        <p:spPr>
          <a:xfrm>
            <a:off x="548640" y="3566160"/>
            <a:ext cx="3383280" cy="1417320"/>
          </a:xfrm>
          <a:prstGeom prst="roundRect">
            <a:avLst>
              <a:gd name="adj" fmla="val 4516"/>
            </a:avLst>
          </a:prstGeom>
          <a:solidFill>
            <a:srgbClr val="F7F9FC"/>
          </a:solidFill>
          <a:ln/>
        </p:spPr>
      </p:sp>
      <p:sp>
        <p:nvSpPr>
          <p:cNvPr id="14" name="Text 12"/>
          <p:cNvSpPr/>
          <p:nvPr/>
        </p:nvSpPr>
        <p:spPr>
          <a:xfrm>
            <a:off x="777240" y="3703320"/>
            <a:ext cx="2926080" cy="41148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Sortino Ratio</a:t>
            </a:r>
            <a:endParaRPr lang="en-US" sz="1500" dirty="0"/>
          </a:p>
        </p:txBody>
      </p:sp>
      <p:sp>
        <p:nvSpPr>
          <p:cNvPr id="15" name="Text 13"/>
          <p:cNvSpPr/>
          <p:nvPr/>
        </p:nvSpPr>
        <p:spPr>
          <a:xfrm>
            <a:off x="777240" y="4133088"/>
            <a:ext cx="2926080" cy="777240"/>
          </a:xfrm>
          <a:prstGeom prst="rect">
            <a:avLst/>
          </a:prstGeom>
          <a:noFill/>
          <a:ln/>
        </p:spPr>
        <p:txBody>
          <a:bodyPr wrap="square" rtlCol="0" anchor="ctr"/>
          <a:lstStyle/>
          <a:p>
            <a:pPr marL="0" indent="0">
              <a:buNone/>
            </a:pPr>
            <a:r>
              <a:rPr lang="en-US" sz="1150" dirty="0">
                <a:solidFill>
                  <a:srgbClr val="5B6579"/>
                </a:solidFill>
                <a:latin typeface="Calibri" pitchFamily="34" charset="0"/>
                <a:ea typeface="Calibri" pitchFamily="34" charset="-122"/>
                <a:cs typeface="Calibri" pitchFamily="34" charset="-120"/>
              </a:rPr>
              <a:t>Excess return per unit of downside volatility</a:t>
            </a:r>
            <a:endParaRPr lang="en-US" sz="1150" dirty="0"/>
          </a:p>
        </p:txBody>
      </p:sp>
      <p:sp>
        <p:nvSpPr>
          <p:cNvPr id="16" name="Shape 14"/>
          <p:cNvSpPr/>
          <p:nvPr/>
        </p:nvSpPr>
        <p:spPr>
          <a:xfrm>
            <a:off x="4206240" y="3566160"/>
            <a:ext cx="3383280" cy="1417320"/>
          </a:xfrm>
          <a:prstGeom prst="roundRect">
            <a:avLst>
              <a:gd name="adj" fmla="val 4516"/>
            </a:avLst>
          </a:prstGeom>
          <a:solidFill>
            <a:srgbClr val="F7F9FC"/>
          </a:solidFill>
          <a:ln/>
        </p:spPr>
      </p:sp>
      <p:sp>
        <p:nvSpPr>
          <p:cNvPr id="17" name="Text 15"/>
          <p:cNvSpPr/>
          <p:nvPr/>
        </p:nvSpPr>
        <p:spPr>
          <a:xfrm>
            <a:off x="4434840" y="3703320"/>
            <a:ext cx="2926080" cy="41148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Alpha</a:t>
            </a:r>
            <a:endParaRPr lang="en-US" sz="1500" dirty="0"/>
          </a:p>
        </p:txBody>
      </p:sp>
      <p:sp>
        <p:nvSpPr>
          <p:cNvPr id="18" name="Text 16"/>
          <p:cNvSpPr/>
          <p:nvPr/>
        </p:nvSpPr>
        <p:spPr>
          <a:xfrm>
            <a:off x="4434840" y="4133088"/>
            <a:ext cx="2926080" cy="777240"/>
          </a:xfrm>
          <a:prstGeom prst="rect">
            <a:avLst/>
          </a:prstGeom>
          <a:noFill/>
          <a:ln/>
        </p:spPr>
        <p:txBody>
          <a:bodyPr wrap="square" rtlCol="0" anchor="ctr"/>
          <a:lstStyle/>
          <a:p>
            <a:pPr marL="0" indent="0">
              <a:buNone/>
            </a:pPr>
            <a:r>
              <a:rPr lang="en-US" sz="1150" dirty="0">
                <a:solidFill>
                  <a:srgbClr val="5B6579"/>
                </a:solidFill>
                <a:latin typeface="Calibri" pitchFamily="34" charset="0"/>
                <a:ea typeface="Calibri" pitchFamily="34" charset="-122"/>
                <a:cs typeface="Calibri" pitchFamily="34" charset="-120"/>
              </a:rPr>
              <a:t>Return beyond what Beta alone would predict</a:t>
            </a:r>
            <a:endParaRPr lang="en-US" sz="1150" dirty="0"/>
          </a:p>
        </p:txBody>
      </p:sp>
      <p:sp>
        <p:nvSpPr>
          <p:cNvPr id="19" name="Shape 17"/>
          <p:cNvSpPr/>
          <p:nvPr/>
        </p:nvSpPr>
        <p:spPr>
          <a:xfrm>
            <a:off x="7863840" y="3566160"/>
            <a:ext cx="3383280" cy="1417320"/>
          </a:xfrm>
          <a:prstGeom prst="roundRect">
            <a:avLst>
              <a:gd name="adj" fmla="val 4516"/>
            </a:avLst>
          </a:prstGeom>
          <a:solidFill>
            <a:srgbClr val="F7F9FC"/>
          </a:solidFill>
          <a:ln/>
        </p:spPr>
      </p:sp>
      <p:sp>
        <p:nvSpPr>
          <p:cNvPr id="20" name="Text 18"/>
          <p:cNvSpPr/>
          <p:nvPr/>
        </p:nvSpPr>
        <p:spPr>
          <a:xfrm>
            <a:off x="8092440" y="3703320"/>
            <a:ext cx="2926080" cy="411480"/>
          </a:xfrm>
          <a:prstGeom prst="rect">
            <a:avLst/>
          </a:prstGeom>
          <a:noFill/>
          <a:ln/>
        </p:spPr>
        <p:txBody>
          <a:bodyPr wrap="square"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Beta</a:t>
            </a:r>
            <a:endParaRPr lang="en-US" sz="1500" dirty="0"/>
          </a:p>
        </p:txBody>
      </p:sp>
      <p:sp>
        <p:nvSpPr>
          <p:cNvPr id="21" name="Text 19"/>
          <p:cNvSpPr/>
          <p:nvPr/>
        </p:nvSpPr>
        <p:spPr>
          <a:xfrm>
            <a:off x="8092440" y="4133088"/>
            <a:ext cx="2926080" cy="777240"/>
          </a:xfrm>
          <a:prstGeom prst="rect">
            <a:avLst/>
          </a:prstGeom>
          <a:noFill/>
          <a:ln/>
        </p:spPr>
        <p:txBody>
          <a:bodyPr wrap="square" rtlCol="0" anchor="ctr"/>
          <a:lstStyle/>
          <a:p>
            <a:pPr marL="0" indent="0">
              <a:buNone/>
            </a:pPr>
            <a:r>
              <a:rPr lang="en-US" sz="1150" dirty="0">
                <a:solidFill>
                  <a:srgbClr val="5B6579"/>
                </a:solidFill>
                <a:latin typeface="Calibri" pitchFamily="34" charset="0"/>
                <a:ea typeface="Calibri" pitchFamily="34" charset="-122"/>
                <a:cs typeface="Calibri" pitchFamily="34" charset="-120"/>
              </a:rPr>
              <a:t>Sensitivity to benchmark index movements</a:t>
            </a:r>
            <a:endParaRPr lang="en-US" sz="1150" dirty="0"/>
          </a:p>
        </p:txBody>
      </p:sp>
      <p:sp>
        <p:nvSpPr>
          <p:cNvPr id="22" name="Text 20"/>
          <p:cNvSpPr/>
          <p:nvPr/>
        </p:nvSpPr>
        <p:spPr>
          <a:xfrm>
            <a:off x="548640" y="5440680"/>
            <a:ext cx="10515600" cy="457200"/>
          </a:xfrm>
          <a:prstGeom prst="rect">
            <a:avLst/>
          </a:prstGeom>
          <a:noFill/>
          <a:ln/>
        </p:spPr>
        <p:txBody>
          <a:bodyPr wrap="square" rtlCol="0" anchor="ctr"/>
          <a:lstStyle/>
          <a:p>
            <a:pPr marL="0" indent="0">
              <a:buNone/>
            </a:pPr>
            <a:r>
              <a:rPr lang="en-US" sz="1250" i="1" dirty="0">
                <a:solidFill>
                  <a:srgbClr val="5B6579"/>
                </a:solidFill>
                <a:latin typeface="Calibri" pitchFamily="34" charset="0"/>
                <a:ea typeface="Calibri" pitchFamily="34" charset="-122"/>
                <a:cs typeface="Calibri" pitchFamily="34" charset="-120"/>
              </a:rPr>
              <a:t>Plus: Maximum Drawdown, benchmark comparison, and a consolidated ranking across all 40 schemes.</a:t>
            </a:r>
            <a:endParaRPr lang="en-US" sz="1250" dirty="0"/>
          </a:p>
        </p:txBody>
      </p:sp>
      <p:sp>
        <p:nvSpPr>
          <p:cNvPr id="23" name="Text 21"/>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4" name="Text 2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D33"/>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Power BI Dashboard Overview</a:t>
            </a:r>
            <a:endParaRPr lang="en-US" sz="3200" dirty="0"/>
          </a:p>
        </p:txBody>
      </p:sp>
      <p:sp>
        <p:nvSpPr>
          <p:cNvPr id="3" name="Text 1"/>
          <p:cNvSpPr/>
          <p:nvPr/>
        </p:nvSpPr>
        <p:spPr>
          <a:xfrm>
            <a:off x="548640" y="1051560"/>
            <a:ext cx="10515600" cy="365760"/>
          </a:xfrm>
          <a:prstGeom prst="rect">
            <a:avLst/>
          </a:prstGeom>
          <a:noFill/>
          <a:ln/>
        </p:spPr>
        <p:txBody>
          <a:bodyPr wrap="square" rtlCol="0" anchor="ctr"/>
          <a:lstStyle/>
          <a:p>
            <a:pPr marL="0" indent="0">
              <a:buNone/>
            </a:pPr>
            <a:r>
              <a:rPr lang="en-US" sz="1400" i="1" dirty="0">
                <a:solidFill>
                  <a:srgbClr val="D8E4F5"/>
                </a:solidFill>
                <a:latin typeface="Calibri" pitchFamily="34" charset="0"/>
                <a:ea typeface="Calibri" pitchFamily="34" charset="-122"/>
                <a:cs typeface="Calibri" pitchFamily="34" charset="-120"/>
              </a:rPr>
              <a:t>Four interactive pages, connected live to the SQLite star schema</a:t>
            </a:r>
            <a:endParaRPr lang="en-US" sz="1400" dirty="0"/>
          </a:p>
        </p:txBody>
      </p:sp>
      <p:sp>
        <p:nvSpPr>
          <p:cNvPr id="4" name="Shape 2"/>
          <p:cNvSpPr/>
          <p:nvPr/>
        </p:nvSpPr>
        <p:spPr>
          <a:xfrm>
            <a:off x="548640" y="1737360"/>
            <a:ext cx="5212080" cy="1965960"/>
          </a:xfrm>
          <a:prstGeom prst="roundRect">
            <a:avLst>
              <a:gd name="adj" fmla="val 3721"/>
            </a:avLst>
          </a:prstGeom>
          <a:solidFill>
            <a:srgbClr val="24345A"/>
          </a:solidFill>
          <a:ln/>
        </p:spPr>
      </p:sp>
      <p:sp>
        <p:nvSpPr>
          <p:cNvPr id="5" name="Shape 3"/>
          <p:cNvSpPr/>
          <p:nvPr/>
        </p:nvSpPr>
        <p:spPr>
          <a:xfrm>
            <a:off x="804672" y="1993392"/>
            <a:ext cx="530352" cy="530352"/>
          </a:xfrm>
          <a:prstGeom prst="ellipse">
            <a:avLst/>
          </a:prstGeom>
          <a:solidFill>
            <a:srgbClr val="C9A24B"/>
          </a:solidFill>
          <a:ln/>
        </p:spPr>
      </p:sp>
      <p:sp>
        <p:nvSpPr>
          <p:cNvPr id="6" name="Text 4"/>
          <p:cNvSpPr/>
          <p:nvPr/>
        </p:nvSpPr>
        <p:spPr>
          <a:xfrm>
            <a:off x="804672" y="1993392"/>
            <a:ext cx="530352" cy="530352"/>
          </a:xfrm>
          <a:prstGeom prst="rect">
            <a:avLst/>
          </a:prstGeom>
          <a:noFill/>
          <a:ln/>
        </p:spPr>
        <p:txBody>
          <a:bodyPr wrap="square" rtlCol="0" anchor="ctr"/>
          <a:lstStyle/>
          <a:p>
            <a:pPr marL="0" indent="0" algn="ctr">
              <a:buNone/>
            </a:pPr>
            <a:r>
              <a:rPr lang="en-US" sz="1276" b="1" dirty="0">
                <a:solidFill>
                  <a:srgbClr val="121D33"/>
                </a:solidFill>
                <a:latin typeface="Cambria" pitchFamily="34" charset="0"/>
                <a:ea typeface="Cambria" pitchFamily="34" charset="-122"/>
                <a:cs typeface="Cambria" pitchFamily="34" charset="-120"/>
              </a:rPr>
              <a:t>01</a:t>
            </a:r>
            <a:endParaRPr lang="en-US" sz="1276" dirty="0"/>
          </a:p>
        </p:txBody>
      </p:sp>
      <p:sp>
        <p:nvSpPr>
          <p:cNvPr id="7" name="Text 5"/>
          <p:cNvSpPr/>
          <p:nvPr/>
        </p:nvSpPr>
        <p:spPr>
          <a:xfrm>
            <a:off x="1508760" y="196596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Industry Overview</a:t>
            </a:r>
            <a:endParaRPr lang="en-US" sz="1600" dirty="0"/>
          </a:p>
        </p:txBody>
      </p:sp>
      <p:sp>
        <p:nvSpPr>
          <p:cNvPr id="8" name="Text 6"/>
          <p:cNvSpPr/>
          <p:nvPr/>
        </p:nvSpPr>
        <p:spPr>
          <a:xfrm>
            <a:off x="822960" y="2651760"/>
            <a:ext cx="4663440" cy="86868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KPI cards for AUM, SIP, Folios &amp; Schemes; Industry AUM trend; AUM by AMC</a:t>
            </a:r>
            <a:endParaRPr lang="en-US" sz="1150" dirty="0"/>
          </a:p>
        </p:txBody>
      </p:sp>
      <p:sp>
        <p:nvSpPr>
          <p:cNvPr id="9" name="Shape 7"/>
          <p:cNvSpPr/>
          <p:nvPr/>
        </p:nvSpPr>
        <p:spPr>
          <a:xfrm>
            <a:off x="6080760" y="1737360"/>
            <a:ext cx="5212080" cy="1965960"/>
          </a:xfrm>
          <a:prstGeom prst="roundRect">
            <a:avLst>
              <a:gd name="adj" fmla="val 3721"/>
            </a:avLst>
          </a:prstGeom>
          <a:solidFill>
            <a:srgbClr val="24345A"/>
          </a:solidFill>
          <a:ln/>
        </p:spPr>
      </p:sp>
      <p:sp>
        <p:nvSpPr>
          <p:cNvPr id="10" name="Shape 8"/>
          <p:cNvSpPr/>
          <p:nvPr/>
        </p:nvSpPr>
        <p:spPr>
          <a:xfrm>
            <a:off x="6336792" y="1993392"/>
            <a:ext cx="530352" cy="530352"/>
          </a:xfrm>
          <a:prstGeom prst="ellipse">
            <a:avLst/>
          </a:prstGeom>
          <a:solidFill>
            <a:srgbClr val="C9A24B"/>
          </a:solidFill>
          <a:ln/>
        </p:spPr>
      </p:sp>
      <p:sp>
        <p:nvSpPr>
          <p:cNvPr id="11" name="Text 9"/>
          <p:cNvSpPr/>
          <p:nvPr/>
        </p:nvSpPr>
        <p:spPr>
          <a:xfrm>
            <a:off x="6336792" y="1993392"/>
            <a:ext cx="530352" cy="530352"/>
          </a:xfrm>
          <a:prstGeom prst="rect">
            <a:avLst/>
          </a:prstGeom>
          <a:noFill/>
          <a:ln/>
        </p:spPr>
        <p:txBody>
          <a:bodyPr wrap="square" rtlCol="0" anchor="ctr"/>
          <a:lstStyle/>
          <a:p>
            <a:pPr marL="0" indent="0" algn="ctr">
              <a:buNone/>
            </a:pPr>
            <a:r>
              <a:rPr lang="en-US" sz="1276" b="1" dirty="0">
                <a:solidFill>
                  <a:srgbClr val="121D33"/>
                </a:solidFill>
                <a:latin typeface="Cambria" pitchFamily="34" charset="0"/>
                <a:ea typeface="Cambria" pitchFamily="34" charset="-122"/>
                <a:cs typeface="Cambria" pitchFamily="34" charset="-120"/>
              </a:rPr>
              <a:t>02</a:t>
            </a:r>
            <a:endParaRPr lang="en-US" sz="1276" dirty="0"/>
          </a:p>
        </p:txBody>
      </p:sp>
      <p:sp>
        <p:nvSpPr>
          <p:cNvPr id="12" name="Text 10"/>
          <p:cNvSpPr/>
          <p:nvPr/>
        </p:nvSpPr>
        <p:spPr>
          <a:xfrm>
            <a:off x="7040880" y="196596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Fund Performance</a:t>
            </a:r>
            <a:endParaRPr lang="en-US" sz="1600" dirty="0"/>
          </a:p>
        </p:txBody>
      </p:sp>
      <p:sp>
        <p:nvSpPr>
          <p:cNvPr id="13" name="Text 11"/>
          <p:cNvSpPr/>
          <p:nvPr/>
        </p:nvSpPr>
        <p:spPr>
          <a:xfrm>
            <a:off x="6355080" y="2651760"/>
            <a:ext cx="4663440" cy="86868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Return-vs-Risk scatter; Fund table; NAV vs Benchmark; Fund House/Category/Plan slicers</a:t>
            </a:r>
            <a:endParaRPr lang="en-US" sz="1150" dirty="0"/>
          </a:p>
        </p:txBody>
      </p:sp>
      <p:sp>
        <p:nvSpPr>
          <p:cNvPr id="14" name="Shape 12"/>
          <p:cNvSpPr/>
          <p:nvPr/>
        </p:nvSpPr>
        <p:spPr>
          <a:xfrm>
            <a:off x="548640" y="3977640"/>
            <a:ext cx="5212080" cy="1965960"/>
          </a:xfrm>
          <a:prstGeom prst="roundRect">
            <a:avLst>
              <a:gd name="adj" fmla="val 3721"/>
            </a:avLst>
          </a:prstGeom>
          <a:solidFill>
            <a:srgbClr val="24345A"/>
          </a:solidFill>
          <a:ln/>
        </p:spPr>
      </p:sp>
      <p:sp>
        <p:nvSpPr>
          <p:cNvPr id="15" name="Shape 13"/>
          <p:cNvSpPr/>
          <p:nvPr/>
        </p:nvSpPr>
        <p:spPr>
          <a:xfrm>
            <a:off x="804672" y="4233672"/>
            <a:ext cx="530352" cy="530352"/>
          </a:xfrm>
          <a:prstGeom prst="ellipse">
            <a:avLst/>
          </a:prstGeom>
          <a:solidFill>
            <a:srgbClr val="C9A24B"/>
          </a:solidFill>
          <a:ln/>
        </p:spPr>
      </p:sp>
      <p:sp>
        <p:nvSpPr>
          <p:cNvPr id="16" name="Text 14"/>
          <p:cNvSpPr/>
          <p:nvPr/>
        </p:nvSpPr>
        <p:spPr>
          <a:xfrm>
            <a:off x="804672" y="4233672"/>
            <a:ext cx="530352" cy="530352"/>
          </a:xfrm>
          <a:prstGeom prst="rect">
            <a:avLst/>
          </a:prstGeom>
          <a:noFill/>
          <a:ln/>
        </p:spPr>
        <p:txBody>
          <a:bodyPr wrap="square" rtlCol="0" anchor="ctr"/>
          <a:lstStyle/>
          <a:p>
            <a:pPr marL="0" indent="0" algn="ctr">
              <a:buNone/>
            </a:pPr>
            <a:r>
              <a:rPr lang="en-US" sz="1276" b="1" dirty="0">
                <a:solidFill>
                  <a:srgbClr val="121D33"/>
                </a:solidFill>
                <a:latin typeface="Cambria" pitchFamily="34" charset="0"/>
                <a:ea typeface="Cambria" pitchFamily="34" charset="-122"/>
                <a:cs typeface="Cambria" pitchFamily="34" charset="-120"/>
              </a:rPr>
              <a:t>03</a:t>
            </a:r>
            <a:endParaRPr lang="en-US" sz="1276" dirty="0"/>
          </a:p>
        </p:txBody>
      </p:sp>
      <p:sp>
        <p:nvSpPr>
          <p:cNvPr id="17" name="Text 15"/>
          <p:cNvSpPr/>
          <p:nvPr/>
        </p:nvSpPr>
        <p:spPr>
          <a:xfrm>
            <a:off x="1508760" y="420624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Investor Analytics</a:t>
            </a:r>
            <a:endParaRPr lang="en-US" sz="1600" dirty="0"/>
          </a:p>
        </p:txBody>
      </p:sp>
      <p:sp>
        <p:nvSpPr>
          <p:cNvPr id="18" name="Text 16"/>
          <p:cNvSpPr/>
          <p:nvPr/>
        </p:nvSpPr>
        <p:spPr>
          <a:xfrm>
            <a:off x="822960" y="4892040"/>
            <a:ext cx="4663440" cy="86868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Transactions by state; SIP/Lumpsum/Redemption donut; Age-group analysis</a:t>
            </a:r>
            <a:endParaRPr lang="en-US" sz="1150" dirty="0"/>
          </a:p>
        </p:txBody>
      </p:sp>
      <p:sp>
        <p:nvSpPr>
          <p:cNvPr id="19" name="Shape 17"/>
          <p:cNvSpPr/>
          <p:nvPr/>
        </p:nvSpPr>
        <p:spPr>
          <a:xfrm>
            <a:off x="6080760" y="3977640"/>
            <a:ext cx="5212080" cy="1965960"/>
          </a:xfrm>
          <a:prstGeom prst="roundRect">
            <a:avLst>
              <a:gd name="adj" fmla="val 3721"/>
            </a:avLst>
          </a:prstGeom>
          <a:solidFill>
            <a:srgbClr val="24345A"/>
          </a:solidFill>
          <a:ln/>
        </p:spPr>
      </p:sp>
      <p:sp>
        <p:nvSpPr>
          <p:cNvPr id="20" name="Shape 18"/>
          <p:cNvSpPr/>
          <p:nvPr/>
        </p:nvSpPr>
        <p:spPr>
          <a:xfrm>
            <a:off x="6336792" y="4233672"/>
            <a:ext cx="530352" cy="530352"/>
          </a:xfrm>
          <a:prstGeom prst="ellipse">
            <a:avLst/>
          </a:prstGeom>
          <a:solidFill>
            <a:srgbClr val="C9A24B"/>
          </a:solidFill>
          <a:ln/>
        </p:spPr>
      </p:sp>
      <p:sp>
        <p:nvSpPr>
          <p:cNvPr id="21" name="Text 19"/>
          <p:cNvSpPr/>
          <p:nvPr/>
        </p:nvSpPr>
        <p:spPr>
          <a:xfrm>
            <a:off x="6336792" y="4233672"/>
            <a:ext cx="530352" cy="530352"/>
          </a:xfrm>
          <a:prstGeom prst="rect">
            <a:avLst/>
          </a:prstGeom>
          <a:noFill/>
          <a:ln/>
        </p:spPr>
        <p:txBody>
          <a:bodyPr wrap="square" rtlCol="0" anchor="ctr"/>
          <a:lstStyle/>
          <a:p>
            <a:pPr marL="0" indent="0" algn="ctr">
              <a:buNone/>
            </a:pPr>
            <a:r>
              <a:rPr lang="en-US" sz="1276" b="1" dirty="0">
                <a:solidFill>
                  <a:srgbClr val="121D33"/>
                </a:solidFill>
                <a:latin typeface="Cambria" pitchFamily="34" charset="0"/>
                <a:ea typeface="Cambria" pitchFamily="34" charset="-122"/>
                <a:cs typeface="Cambria" pitchFamily="34" charset="-120"/>
              </a:rPr>
              <a:t>04</a:t>
            </a:r>
            <a:endParaRPr lang="en-US" sz="1276" dirty="0"/>
          </a:p>
        </p:txBody>
      </p:sp>
      <p:sp>
        <p:nvSpPr>
          <p:cNvPr id="22" name="Text 20"/>
          <p:cNvSpPr/>
          <p:nvPr/>
        </p:nvSpPr>
        <p:spPr>
          <a:xfrm>
            <a:off x="7040880" y="420624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SIP &amp; Market Trends</a:t>
            </a:r>
            <a:endParaRPr lang="en-US" sz="1600" dirty="0"/>
          </a:p>
        </p:txBody>
      </p:sp>
      <p:sp>
        <p:nvSpPr>
          <p:cNvPr id="23" name="Text 21"/>
          <p:cNvSpPr/>
          <p:nvPr/>
        </p:nvSpPr>
        <p:spPr>
          <a:xfrm>
            <a:off x="6355080" y="4892040"/>
            <a:ext cx="4663440" cy="868680"/>
          </a:xfrm>
          <a:prstGeom prst="rect">
            <a:avLst/>
          </a:prstGeom>
          <a:noFill/>
          <a:ln/>
        </p:spPr>
        <p:txBody>
          <a:bodyPr wrap="square" rtlCol="0" anchor="ctr"/>
          <a:lstStyle/>
          <a:p>
            <a:pPr marL="0" indent="0">
              <a:buNone/>
            </a:pPr>
            <a:r>
              <a:rPr lang="en-US" sz="1150" dirty="0">
                <a:solidFill>
                  <a:srgbClr val="D8E4F5"/>
                </a:solidFill>
                <a:latin typeface="Calibri" pitchFamily="34" charset="0"/>
                <a:ea typeface="Calibri" pitchFamily="34" charset="-122"/>
                <a:cs typeface="Calibri" pitchFamily="34" charset="-120"/>
              </a:rPr>
              <a:t>Category heatmap; SIP vs NIFTY 50; Top categories; Month filter</a:t>
            </a:r>
            <a:endParaRPr lang="en-US" sz="1150" dirty="0"/>
          </a:p>
        </p:txBody>
      </p:sp>
      <p:sp>
        <p:nvSpPr>
          <p:cNvPr id="24" name="Text 22"/>
          <p:cNvSpPr/>
          <p:nvPr/>
        </p:nvSpPr>
        <p:spPr>
          <a:xfrm>
            <a:off x="548640" y="6080760"/>
            <a:ext cx="10515600" cy="365760"/>
          </a:xfrm>
          <a:prstGeom prst="rect">
            <a:avLst/>
          </a:prstGeom>
          <a:noFill/>
          <a:ln/>
        </p:spPr>
        <p:txBody>
          <a:bodyPr wrap="square" rtlCol="0" anchor="ctr"/>
          <a:lstStyle/>
          <a:p>
            <a:pPr marL="0" indent="0">
              <a:buNone/>
            </a:pPr>
            <a:r>
              <a:rPr lang="en-US" sz="1200" i="1" dirty="0">
                <a:solidFill>
                  <a:srgbClr val="9FB0CC"/>
                </a:solidFill>
                <a:latin typeface="Calibri" pitchFamily="34" charset="0"/>
                <a:ea typeface="Calibri" pitchFamily="34" charset="-122"/>
                <a:cs typeface="Calibri" pitchFamily="34" charset="-120"/>
              </a:rPr>
              <a:t>Enhanced with drill-through navigation, custom tooltips, and cross-page interactive filters.</a:t>
            </a:r>
            <a:endParaRPr lang="en-US" sz="1200" dirty="0"/>
          </a:p>
        </p:txBody>
      </p:sp>
      <p:sp>
        <p:nvSpPr>
          <p:cNvPr id="25" name="Text 2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A98B8"/>
                </a:solidFill>
                <a:latin typeface="Calibri" pitchFamily="34" charset="0"/>
                <a:ea typeface="Calibri" pitchFamily="34" charset="-122"/>
                <a:cs typeface="Calibri" pitchFamily="34" charset="-120"/>
              </a:rPr>
              <a:t>Bluestock Mutual Fund Analytics</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A98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Advanced Analytics</a:t>
            </a:r>
            <a:endParaRPr lang="en-US" sz="3400" dirty="0"/>
          </a:p>
        </p:txBody>
      </p:sp>
      <p:sp>
        <p:nvSpPr>
          <p:cNvPr id="3" name="Text 1"/>
          <p:cNvSpPr/>
          <p:nvPr/>
        </p:nvSpPr>
        <p:spPr>
          <a:xfrm>
            <a:off x="548640" y="1143000"/>
            <a:ext cx="10515600" cy="365760"/>
          </a:xfrm>
          <a:prstGeom prst="rect">
            <a:avLst/>
          </a:prstGeom>
          <a:noFill/>
          <a:ln/>
        </p:spPr>
        <p:txBody>
          <a:bodyPr wrap="square" rtlCol="0" anchor="ctr"/>
          <a:lstStyle/>
          <a:p>
            <a:pPr marL="0" indent="0">
              <a:buNone/>
            </a:pPr>
            <a:r>
              <a:rPr lang="en-US" sz="1400" i="1" dirty="0">
                <a:solidFill>
                  <a:srgbClr val="5B6579"/>
                </a:solidFill>
                <a:latin typeface="Calibri" pitchFamily="34" charset="0"/>
                <a:ea typeface="Calibri" pitchFamily="34" charset="-122"/>
                <a:cs typeface="Calibri" pitchFamily="34" charset="-120"/>
              </a:rPr>
              <a:t>Institutional-grade risk and behavioural techniques layered on top of the core pipeline</a:t>
            </a:r>
            <a:endParaRPr lang="en-US" sz="1400" dirty="0"/>
          </a:p>
        </p:txBody>
      </p:sp>
      <p:sp>
        <p:nvSpPr>
          <p:cNvPr id="4" name="Shape 2"/>
          <p:cNvSpPr/>
          <p:nvPr/>
        </p:nvSpPr>
        <p:spPr>
          <a:xfrm>
            <a:off x="548640" y="1874520"/>
            <a:ext cx="3383280" cy="1417320"/>
          </a:xfrm>
          <a:prstGeom prst="roundRect">
            <a:avLst>
              <a:gd name="adj" fmla="val 4516"/>
            </a:avLst>
          </a:prstGeom>
          <a:solidFill>
            <a:srgbClr val="F7F9FC"/>
          </a:solidFill>
          <a:ln w="12700">
            <a:solidFill>
              <a:srgbClr val="E5EAF2"/>
            </a:solidFill>
            <a:prstDash val="solid"/>
          </a:ln>
        </p:spPr>
      </p:sp>
      <p:sp>
        <p:nvSpPr>
          <p:cNvPr id="5" name="Shape 3"/>
          <p:cNvSpPr/>
          <p:nvPr/>
        </p:nvSpPr>
        <p:spPr>
          <a:xfrm>
            <a:off x="749808" y="2075688"/>
            <a:ext cx="384048" cy="384048"/>
          </a:xfrm>
          <a:prstGeom prst="rect">
            <a:avLst/>
          </a:prstGeom>
          <a:solidFill>
            <a:srgbClr val="C9A24B"/>
          </a:solidFill>
          <a:ln/>
        </p:spPr>
      </p:sp>
      <p:sp>
        <p:nvSpPr>
          <p:cNvPr id="6" name="Text 4"/>
          <p:cNvSpPr/>
          <p:nvPr/>
        </p:nvSpPr>
        <p:spPr>
          <a:xfrm>
            <a:off x="749808" y="207568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200253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Historical VaR (95%) &amp; CVaR</a:t>
            </a:r>
            <a:endParaRPr lang="en-US" sz="1300" dirty="0"/>
          </a:p>
        </p:txBody>
      </p:sp>
      <p:sp>
        <p:nvSpPr>
          <p:cNvPr id="8" name="Text 6"/>
          <p:cNvSpPr/>
          <p:nvPr/>
        </p:nvSpPr>
        <p:spPr>
          <a:xfrm>
            <a:off x="749808" y="253288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Tail-risk estimation from empirical return distributions — var_cvar_report.csv</a:t>
            </a:r>
            <a:endParaRPr lang="en-US" sz="1050" dirty="0"/>
          </a:p>
        </p:txBody>
      </p:sp>
      <p:sp>
        <p:nvSpPr>
          <p:cNvPr id="9" name="Shape 7"/>
          <p:cNvSpPr/>
          <p:nvPr/>
        </p:nvSpPr>
        <p:spPr>
          <a:xfrm>
            <a:off x="4206240" y="1874520"/>
            <a:ext cx="3383280" cy="1417320"/>
          </a:xfrm>
          <a:prstGeom prst="roundRect">
            <a:avLst>
              <a:gd name="adj" fmla="val 4516"/>
            </a:avLst>
          </a:prstGeom>
          <a:solidFill>
            <a:srgbClr val="F7F9FC"/>
          </a:solidFill>
          <a:ln w="12700">
            <a:solidFill>
              <a:srgbClr val="E5EAF2"/>
            </a:solidFill>
            <a:prstDash val="solid"/>
          </a:ln>
        </p:spPr>
      </p:sp>
      <p:sp>
        <p:nvSpPr>
          <p:cNvPr id="10" name="Shape 8"/>
          <p:cNvSpPr/>
          <p:nvPr/>
        </p:nvSpPr>
        <p:spPr>
          <a:xfrm>
            <a:off x="4407408" y="2075688"/>
            <a:ext cx="384048" cy="384048"/>
          </a:xfrm>
          <a:prstGeom prst="rect">
            <a:avLst/>
          </a:prstGeom>
          <a:solidFill>
            <a:srgbClr val="C9A24B"/>
          </a:solidFill>
          <a:ln/>
        </p:spPr>
      </p:sp>
      <p:sp>
        <p:nvSpPr>
          <p:cNvPr id="11" name="Text 9"/>
          <p:cNvSpPr/>
          <p:nvPr/>
        </p:nvSpPr>
        <p:spPr>
          <a:xfrm>
            <a:off x="4407408" y="207568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892040" y="200253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Rolling 90-Day Sharpe Ratio</a:t>
            </a:r>
            <a:endParaRPr lang="en-US" sz="1300" dirty="0"/>
          </a:p>
        </p:txBody>
      </p:sp>
      <p:sp>
        <p:nvSpPr>
          <p:cNvPr id="13" name="Text 11"/>
          <p:cNvSpPr/>
          <p:nvPr/>
        </p:nvSpPr>
        <p:spPr>
          <a:xfrm>
            <a:off x="4407408" y="253288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Time-varying risk-adjusted performance — rolling_sharpe_chart.png</a:t>
            </a:r>
            <a:endParaRPr lang="en-US" sz="1050" dirty="0"/>
          </a:p>
        </p:txBody>
      </p:sp>
      <p:sp>
        <p:nvSpPr>
          <p:cNvPr id="14" name="Shape 12"/>
          <p:cNvSpPr/>
          <p:nvPr/>
        </p:nvSpPr>
        <p:spPr>
          <a:xfrm>
            <a:off x="7863840" y="1874520"/>
            <a:ext cx="3383280" cy="1417320"/>
          </a:xfrm>
          <a:prstGeom prst="roundRect">
            <a:avLst>
              <a:gd name="adj" fmla="val 4516"/>
            </a:avLst>
          </a:prstGeom>
          <a:solidFill>
            <a:srgbClr val="F7F9FC"/>
          </a:solidFill>
          <a:ln w="12700">
            <a:solidFill>
              <a:srgbClr val="E5EAF2"/>
            </a:solidFill>
            <a:prstDash val="solid"/>
          </a:ln>
        </p:spPr>
      </p:sp>
      <p:sp>
        <p:nvSpPr>
          <p:cNvPr id="15" name="Shape 13"/>
          <p:cNvSpPr/>
          <p:nvPr/>
        </p:nvSpPr>
        <p:spPr>
          <a:xfrm>
            <a:off x="8065008" y="2075688"/>
            <a:ext cx="384048" cy="384048"/>
          </a:xfrm>
          <a:prstGeom prst="rect">
            <a:avLst/>
          </a:prstGeom>
          <a:solidFill>
            <a:srgbClr val="C9A24B"/>
          </a:solidFill>
          <a:ln/>
        </p:spPr>
      </p:sp>
      <p:sp>
        <p:nvSpPr>
          <p:cNvPr id="16" name="Text 14"/>
          <p:cNvSpPr/>
          <p:nvPr/>
        </p:nvSpPr>
        <p:spPr>
          <a:xfrm>
            <a:off x="8065008" y="207568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549640" y="200253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Investor Cohort Analysis</a:t>
            </a:r>
            <a:endParaRPr lang="en-US" sz="1300" dirty="0"/>
          </a:p>
        </p:txBody>
      </p:sp>
      <p:sp>
        <p:nvSpPr>
          <p:cNvPr id="18" name="Text 16"/>
          <p:cNvSpPr/>
          <p:nvPr/>
        </p:nvSpPr>
        <p:spPr>
          <a:xfrm>
            <a:off x="8065008" y="253288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Behaviour tracked by entry-period cohort, adapted from retention analytics</a:t>
            </a:r>
            <a:endParaRPr lang="en-US" sz="1050" dirty="0"/>
          </a:p>
        </p:txBody>
      </p:sp>
      <p:sp>
        <p:nvSpPr>
          <p:cNvPr id="19" name="Shape 17"/>
          <p:cNvSpPr/>
          <p:nvPr/>
        </p:nvSpPr>
        <p:spPr>
          <a:xfrm>
            <a:off x="548640" y="3566160"/>
            <a:ext cx="3383280" cy="1417320"/>
          </a:xfrm>
          <a:prstGeom prst="roundRect">
            <a:avLst>
              <a:gd name="adj" fmla="val 4516"/>
            </a:avLst>
          </a:prstGeom>
          <a:solidFill>
            <a:srgbClr val="F7F9FC"/>
          </a:solidFill>
          <a:ln w="12700">
            <a:solidFill>
              <a:srgbClr val="E5EAF2"/>
            </a:solidFill>
            <a:prstDash val="solid"/>
          </a:ln>
        </p:spPr>
      </p:sp>
      <p:sp>
        <p:nvSpPr>
          <p:cNvPr id="20" name="Shape 18"/>
          <p:cNvSpPr/>
          <p:nvPr/>
        </p:nvSpPr>
        <p:spPr>
          <a:xfrm>
            <a:off x="749808" y="3767328"/>
            <a:ext cx="384048" cy="384048"/>
          </a:xfrm>
          <a:prstGeom prst="rect">
            <a:avLst/>
          </a:prstGeom>
          <a:solidFill>
            <a:srgbClr val="C9A24B"/>
          </a:solidFill>
          <a:ln/>
        </p:spPr>
      </p:sp>
      <p:sp>
        <p:nvSpPr>
          <p:cNvPr id="21" name="Text 19"/>
          <p:cNvSpPr/>
          <p:nvPr/>
        </p:nvSpPr>
        <p:spPr>
          <a:xfrm>
            <a:off x="749808" y="376732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234440" y="369417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SIP Continuity Analysis</a:t>
            </a:r>
            <a:endParaRPr lang="en-US" sz="1300" dirty="0"/>
          </a:p>
        </p:txBody>
      </p:sp>
      <p:sp>
        <p:nvSpPr>
          <p:cNvPr id="23" name="Text 21"/>
          <p:cNvSpPr/>
          <p:nvPr/>
        </p:nvSpPr>
        <p:spPr>
          <a:xfrm>
            <a:off x="749808" y="422452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Measures sustained vs. lapsed SIP contributions over time</a:t>
            </a:r>
            <a:endParaRPr lang="en-US" sz="1050" dirty="0"/>
          </a:p>
        </p:txBody>
      </p:sp>
      <p:sp>
        <p:nvSpPr>
          <p:cNvPr id="24" name="Shape 22"/>
          <p:cNvSpPr/>
          <p:nvPr/>
        </p:nvSpPr>
        <p:spPr>
          <a:xfrm>
            <a:off x="4206240" y="3566160"/>
            <a:ext cx="3383280" cy="1417320"/>
          </a:xfrm>
          <a:prstGeom prst="roundRect">
            <a:avLst>
              <a:gd name="adj" fmla="val 4516"/>
            </a:avLst>
          </a:prstGeom>
          <a:solidFill>
            <a:srgbClr val="F7F9FC"/>
          </a:solidFill>
          <a:ln w="12700">
            <a:solidFill>
              <a:srgbClr val="E5EAF2"/>
            </a:solidFill>
            <a:prstDash val="solid"/>
          </a:ln>
        </p:spPr>
      </p:sp>
      <p:sp>
        <p:nvSpPr>
          <p:cNvPr id="25" name="Shape 23"/>
          <p:cNvSpPr/>
          <p:nvPr/>
        </p:nvSpPr>
        <p:spPr>
          <a:xfrm>
            <a:off x="4407408" y="3767328"/>
            <a:ext cx="384048" cy="384048"/>
          </a:xfrm>
          <a:prstGeom prst="rect">
            <a:avLst/>
          </a:prstGeom>
          <a:solidFill>
            <a:srgbClr val="C9A24B"/>
          </a:solidFill>
          <a:ln/>
        </p:spPr>
      </p:sp>
      <p:sp>
        <p:nvSpPr>
          <p:cNvPr id="26" name="Text 24"/>
          <p:cNvSpPr/>
          <p:nvPr/>
        </p:nvSpPr>
        <p:spPr>
          <a:xfrm>
            <a:off x="4407408" y="376732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892040" y="369417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Rule-Based Recommender</a:t>
            </a:r>
            <a:endParaRPr lang="en-US" sz="1300" dirty="0"/>
          </a:p>
        </p:txBody>
      </p:sp>
      <p:sp>
        <p:nvSpPr>
          <p:cNvPr id="28" name="Text 26"/>
          <p:cNvSpPr/>
          <p:nvPr/>
        </p:nvSpPr>
        <p:spPr>
          <a:xfrm>
            <a:off x="4407408" y="422452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Transparent, explainable fund matching — recommender.py</a:t>
            </a:r>
            <a:endParaRPr lang="en-US" sz="1050" dirty="0"/>
          </a:p>
        </p:txBody>
      </p:sp>
      <p:sp>
        <p:nvSpPr>
          <p:cNvPr id="29" name="Shape 27"/>
          <p:cNvSpPr/>
          <p:nvPr/>
        </p:nvSpPr>
        <p:spPr>
          <a:xfrm>
            <a:off x="7863840" y="3566160"/>
            <a:ext cx="3383280" cy="1417320"/>
          </a:xfrm>
          <a:prstGeom prst="roundRect">
            <a:avLst>
              <a:gd name="adj" fmla="val 4516"/>
            </a:avLst>
          </a:prstGeom>
          <a:solidFill>
            <a:srgbClr val="F7F9FC"/>
          </a:solidFill>
          <a:ln w="12700">
            <a:solidFill>
              <a:srgbClr val="E5EAF2"/>
            </a:solidFill>
            <a:prstDash val="solid"/>
          </a:ln>
        </p:spPr>
      </p:sp>
      <p:sp>
        <p:nvSpPr>
          <p:cNvPr id="30" name="Shape 28"/>
          <p:cNvSpPr/>
          <p:nvPr/>
        </p:nvSpPr>
        <p:spPr>
          <a:xfrm>
            <a:off x="8065008" y="3767328"/>
            <a:ext cx="384048" cy="384048"/>
          </a:xfrm>
          <a:prstGeom prst="rect">
            <a:avLst/>
          </a:prstGeom>
          <a:solidFill>
            <a:srgbClr val="C9A24B"/>
          </a:solidFill>
          <a:ln/>
        </p:spPr>
      </p:sp>
      <p:sp>
        <p:nvSpPr>
          <p:cNvPr id="31" name="Text 29"/>
          <p:cNvSpPr/>
          <p:nvPr/>
        </p:nvSpPr>
        <p:spPr>
          <a:xfrm>
            <a:off x="8065008" y="3767328"/>
            <a:ext cx="384048" cy="384048"/>
          </a:xfrm>
          <a:prstGeom prst="rect">
            <a:avLst/>
          </a:prstGeom>
          <a:noFill/>
          <a:ln/>
        </p:spPr>
        <p:txBody>
          <a:bodyPr wrap="square" rtlCol="0" anchor="ctr"/>
          <a:lstStyle/>
          <a:p>
            <a:pPr marL="0" indent="0" algn="ctr">
              <a:buNone/>
            </a:pPr>
            <a:r>
              <a:rPr lang="en-US" sz="1400" b="1" dirty="0">
                <a:solidFill>
                  <a:srgbClr val="121D33"/>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549640" y="3694176"/>
            <a:ext cx="2468880" cy="502920"/>
          </a:xfrm>
          <a:prstGeom prst="rect">
            <a:avLst/>
          </a:prstGeom>
          <a:noFill/>
          <a:ln/>
        </p:spPr>
        <p:txBody>
          <a:bodyPr wrap="square"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Portfolio HHI</a:t>
            </a:r>
            <a:endParaRPr lang="en-US" sz="1300" dirty="0"/>
          </a:p>
        </p:txBody>
      </p:sp>
      <p:sp>
        <p:nvSpPr>
          <p:cNvPr id="33" name="Text 31"/>
          <p:cNvSpPr/>
          <p:nvPr/>
        </p:nvSpPr>
        <p:spPr>
          <a:xfrm>
            <a:off x="8065008" y="4224528"/>
            <a:ext cx="2980944" cy="640080"/>
          </a:xfrm>
          <a:prstGeom prst="rect">
            <a:avLst/>
          </a:prstGeom>
          <a:noFill/>
          <a:ln/>
        </p:spPr>
        <p:txBody>
          <a:bodyPr wrap="square" rtlCol="0" anchor="ctr"/>
          <a:lstStyle/>
          <a:p>
            <a:pPr marL="0" indent="0">
              <a:buNone/>
            </a:pPr>
            <a:r>
              <a:rPr lang="en-US" sz="1050" dirty="0">
                <a:solidFill>
                  <a:srgbClr val="5B6579"/>
                </a:solidFill>
                <a:latin typeface="Calibri" pitchFamily="34" charset="0"/>
                <a:ea typeface="Calibri" pitchFamily="34" charset="-122"/>
                <a:cs typeface="Calibri" pitchFamily="34" charset="-120"/>
              </a:rPr>
              <a:t>Herfindahl-Hirschman concentration index — sector_hhi.csv</a:t>
            </a:r>
            <a:endParaRPr lang="en-US" sz="1050" dirty="0"/>
          </a:p>
        </p:txBody>
      </p:sp>
      <p:sp>
        <p:nvSpPr>
          <p:cNvPr id="34" name="Text 3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35" name="Text 3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Key Results</a:t>
            </a:r>
            <a:endParaRPr lang="en-US" sz="3400" dirty="0"/>
          </a:p>
        </p:txBody>
      </p:sp>
      <p:sp>
        <p:nvSpPr>
          <p:cNvPr id="3" name="Shape 1"/>
          <p:cNvSpPr/>
          <p:nvPr/>
        </p:nvSpPr>
        <p:spPr>
          <a:xfrm>
            <a:off x="548640" y="1371600"/>
            <a:ext cx="3657600" cy="2148840"/>
          </a:xfrm>
          <a:prstGeom prst="roundRect">
            <a:avLst>
              <a:gd name="adj" fmla="val 3404"/>
            </a:avLst>
          </a:prstGeom>
          <a:solidFill>
            <a:srgbClr val="1B2A4A"/>
          </a:solidFill>
          <a:ln/>
        </p:spPr>
      </p:sp>
      <p:sp>
        <p:nvSpPr>
          <p:cNvPr id="4" name="Text 2"/>
          <p:cNvSpPr/>
          <p:nvPr/>
        </p:nvSpPr>
        <p:spPr>
          <a:xfrm>
            <a:off x="777240" y="1536192"/>
            <a:ext cx="3200400" cy="457200"/>
          </a:xfrm>
          <a:prstGeom prst="rect">
            <a:avLst/>
          </a:prstGeom>
          <a:noFill/>
          <a:ln/>
        </p:spPr>
        <p:txBody>
          <a:bodyPr wrap="square" rtlCol="0" anchor="ctr"/>
          <a:lstStyle/>
          <a:p>
            <a:pPr marL="0" indent="0">
              <a:buNone/>
            </a:pPr>
            <a:r>
              <a:rPr lang="en-US" sz="1200" dirty="0">
                <a:solidFill>
                  <a:srgbClr val="D8E4F5"/>
                </a:solidFill>
                <a:latin typeface="Calibri" pitchFamily="34" charset="0"/>
                <a:ea typeface="Calibri" pitchFamily="34" charset="-122"/>
                <a:cs typeface="Calibri" pitchFamily="34" charset="-120"/>
              </a:rPr>
              <a:t>Highest Sharpe &amp; Sortino Ratio</a:t>
            </a:r>
            <a:endParaRPr lang="en-US" sz="1200" dirty="0"/>
          </a:p>
        </p:txBody>
      </p:sp>
      <p:sp>
        <p:nvSpPr>
          <p:cNvPr id="5" name="Text 3"/>
          <p:cNvSpPr/>
          <p:nvPr/>
        </p:nvSpPr>
        <p:spPr>
          <a:xfrm>
            <a:off x="777240" y="1965960"/>
            <a:ext cx="3200400" cy="1371600"/>
          </a:xfrm>
          <a:prstGeom prst="rect">
            <a:avLst/>
          </a:prstGeom>
          <a:noFill/>
          <a:ln/>
        </p:spPr>
        <p:txBody>
          <a:bodyPr wrap="square" rtlCol="0" anchor="ctr"/>
          <a:lstStyle/>
          <a:p>
            <a:pPr marL="0" indent="0">
              <a:buNone/>
            </a:pPr>
            <a:r>
              <a:rPr lang="en-US" sz="2400" b="1" dirty="0">
                <a:solidFill>
                  <a:srgbClr val="C9A24B"/>
                </a:solidFill>
                <a:latin typeface="Cambria" pitchFamily="34" charset="0"/>
                <a:ea typeface="Cambria" pitchFamily="34" charset="-122"/>
                <a:cs typeface="Cambria" pitchFamily="34" charset="-120"/>
              </a:rPr>
              <a:t>Mirae Asset</a:t>
            </a:r>
            <a:endParaRPr lang="en-US" sz="2400" dirty="0"/>
          </a:p>
          <a:p>
            <a:pPr marL="0" indent="0">
              <a:buNone/>
            </a:pPr>
            <a:r>
              <a:rPr lang="en-US" sz="2400" b="1" dirty="0">
                <a:solidFill>
                  <a:srgbClr val="C9A24B"/>
                </a:solidFill>
                <a:latin typeface="Cambria" pitchFamily="34" charset="0"/>
                <a:ea typeface="Cambria" pitchFamily="34" charset="-122"/>
                <a:cs typeface="Cambria" pitchFamily="34" charset="-120"/>
              </a:rPr>
              <a:t>Large Cap Fund</a:t>
            </a:r>
            <a:endParaRPr lang="en-US" sz="2400" dirty="0"/>
          </a:p>
        </p:txBody>
      </p:sp>
      <p:sp>
        <p:nvSpPr>
          <p:cNvPr id="6" name="Shape 4"/>
          <p:cNvSpPr/>
          <p:nvPr/>
        </p:nvSpPr>
        <p:spPr>
          <a:xfrm>
            <a:off x="548640" y="3703320"/>
            <a:ext cx="3657600" cy="2148840"/>
          </a:xfrm>
          <a:prstGeom prst="roundRect">
            <a:avLst>
              <a:gd name="adj" fmla="val 3404"/>
            </a:avLst>
          </a:prstGeom>
          <a:solidFill>
            <a:srgbClr val="44506B"/>
          </a:solidFill>
          <a:ln/>
        </p:spPr>
      </p:sp>
      <p:sp>
        <p:nvSpPr>
          <p:cNvPr id="7" name="Text 5"/>
          <p:cNvSpPr/>
          <p:nvPr/>
        </p:nvSpPr>
        <p:spPr>
          <a:xfrm>
            <a:off x="777240" y="3867912"/>
            <a:ext cx="3200400" cy="457200"/>
          </a:xfrm>
          <a:prstGeom prst="rect">
            <a:avLst/>
          </a:prstGeom>
          <a:noFill/>
          <a:ln/>
        </p:spPr>
        <p:txBody>
          <a:bodyPr wrap="square" rtlCol="0" anchor="ctr"/>
          <a:lstStyle/>
          <a:p>
            <a:pPr marL="0" indent="0">
              <a:buNone/>
            </a:pPr>
            <a:r>
              <a:rPr lang="en-US" sz="1200" dirty="0">
                <a:solidFill>
                  <a:srgbClr val="D8E4F5"/>
                </a:solidFill>
                <a:latin typeface="Calibri" pitchFamily="34" charset="0"/>
                <a:ea typeface="Calibri" pitchFamily="34" charset="-122"/>
                <a:cs typeface="Calibri" pitchFamily="34" charset="-120"/>
              </a:rPr>
              <a:t>Highest Value-at-Risk (95%)</a:t>
            </a:r>
            <a:endParaRPr lang="en-US" sz="1200" dirty="0"/>
          </a:p>
        </p:txBody>
      </p:sp>
      <p:sp>
        <p:nvSpPr>
          <p:cNvPr id="8" name="Text 6"/>
          <p:cNvSpPr/>
          <p:nvPr/>
        </p:nvSpPr>
        <p:spPr>
          <a:xfrm>
            <a:off x="777240" y="4297680"/>
            <a:ext cx="3200400" cy="13716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SBI Small</a:t>
            </a:r>
            <a:endParaRPr lang="en-US" sz="2400" dirty="0"/>
          </a:p>
          <a:p>
            <a:pPr marL="0" indent="0">
              <a:buNone/>
            </a:pPr>
            <a:r>
              <a:rPr lang="en-US" sz="2400" b="1" dirty="0">
                <a:solidFill>
                  <a:srgbClr val="FFFFFF"/>
                </a:solidFill>
                <a:latin typeface="Cambria" pitchFamily="34" charset="0"/>
                <a:ea typeface="Cambria" pitchFamily="34" charset="-122"/>
                <a:cs typeface="Cambria" pitchFamily="34" charset="-120"/>
              </a:rPr>
              <a:t>Cap Fund</a:t>
            </a:r>
            <a:endParaRPr lang="en-US" sz="2400" dirty="0"/>
          </a:p>
        </p:txBody>
      </p:sp>
      <p:sp>
        <p:nvSpPr>
          <p:cNvPr id="9" name="Shape 7"/>
          <p:cNvSpPr/>
          <p:nvPr/>
        </p:nvSpPr>
        <p:spPr>
          <a:xfrm>
            <a:off x="4526280" y="1371600"/>
            <a:ext cx="7132320" cy="4480560"/>
          </a:xfrm>
          <a:prstGeom prst="roundRect">
            <a:avLst>
              <a:gd name="adj" fmla="val 1633"/>
            </a:avLst>
          </a:prstGeom>
          <a:solidFill>
            <a:srgbClr val="FFFFFF"/>
          </a:solidFill>
          <a:ln w="12700">
            <a:solidFill>
              <a:srgbClr val="E1E7F0"/>
            </a:solidFill>
            <a:prstDash val="solid"/>
          </a:ln>
        </p:spPr>
      </p:sp>
      <p:sp>
        <p:nvSpPr>
          <p:cNvPr id="10" name="Text 8"/>
          <p:cNvSpPr/>
          <p:nvPr/>
        </p:nvSpPr>
        <p:spPr>
          <a:xfrm>
            <a:off x="4800600" y="1536192"/>
            <a:ext cx="6583680" cy="41148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Illustrative Sharpe Ratio by Category (sample average)</a:t>
            </a:r>
            <a:endParaRPr lang="en-US" sz="1400" dirty="0"/>
          </a:p>
        </p:txBody>
      </p:sp>
      <p:graphicFrame>
        <p:nvGraphicFramePr>
          <p:cNvPr id="11" name="Chart 0"/>
          <p:cNvGraphicFramePr/>
          <p:nvPr/>
        </p:nvGraphicFramePr>
        <p:xfrm>
          <a:off x="4754880" y="201168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13" name="Text 1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Future Scope &amp; Recommendations</a:t>
            </a:r>
            <a:endParaRPr lang="en-US" sz="3400" dirty="0"/>
          </a:p>
        </p:txBody>
      </p:sp>
      <p:sp>
        <p:nvSpPr>
          <p:cNvPr id="3" name="Shape 1"/>
          <p:cNvSpPr/>
          <p:nvPr/>
        </p:nvSpPr>
        <p:spPr>
          <a:xfrm>
            <a:off x="548640" y="1280160"/>
            <a:ext cx="5212080" cy="4846320"/>
          </a:xfrm>
          <a:prstGeom prst="roundRect">
            <a:avLst>
              <a:gd name="adj" fmla="val 1509"/>
            </a:avLst>
          </a:prstGeom>
          <a:solidFill>
            <a:srgbClr val="F7F9FC"/>
          </a:solidFill>
          <a:ln/>
        </p:spPr>
      </p:sp>
      <p:sp>
        <p:nvSpPr>
          <p:cNvPr id="4" name="Text 2"/>
          <p:cNvSpPr/>
          <p:nvPr/>
        </p:nvSpPr>
        <p:spPr>
          <a:xfrm>
            <a:off x="868680" y="1463040"/>
            <a:ext cx="4572000" cy="457200"/>
          </a:xfrm>
          <a:prstGeom prst="rect">
            <a:avLst/>
          </a:prstGeom>
          <a:noFill/>
          <a:ln/>
        </p:spPr>
        <p:txBody>
          <a:bodyPr wrap="square"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Recommendations</a:t>
            </a:r>
            <a:endParaRPr lang="en-US" sz="1700" dirty="0"/>
          </a:p>
        </p:txBody>
      </p:sp>
      <p:sp>
        <p:nvSpPr>
          <p:cNvPr id="5" name="Shape 3"/>
          <p:cNvSpPr/>
          <p:nvPr/>
        </p:nvSpPr>
        <p:spPr>
          <a:xfrm>
            <a:off x="868680" y="2103120"/>
            <a:ext cx="128016" cy="128016"/>
          </a:xfrm>
          <a:prstGeom prst="ellipse">
            <a:avLst/>
          </a:prstGeom>
          <a:solidFill>
            <a:srgbClr val="C9A24B"/>
          </a:solidFill>
          <a:ln/>
        </p:spPr>
      </p:sp>
      <p:sp>
        <p:nvSpPr>
          <p:cNvPr id="6" name="Text 4"/>
          <p:cNvSpPr/>
          <p:nvPr/>
        </p:nvSpPr>
        <p:spPr>
          <a:xfrm>
            <a:off x="1188720" y="1938528"/>
            <a:ext cx="4434840" cy="822960"/>
          </a:xfrm>
          <a:prstGeom prst="rect">
            <a:avLst/>
          </a:prstGeom>
          <a:noFill/>
          <a:ln/>
        </p:spPr>
        <p:txBody>
          <a:bodyPr wrap="square" rtlCol="0" anchor="t"/>
          <a:lstStyle/>
          <a:p>
            <a:pPr marL="0" indent="0">
              <a:buNone/>
            </a:pPr>
            <a:r>
              <a:rPr lang="en-US" sz="1250" dirty="0">
                <a:solidFill>
                  <a:srgbClr val="1B2A4A"/>
                </a:solidFill>
                <a:latin typeface="Calibri" pitchFamily="34" charset="0"/>
                <a:ea typeface="Calibri" pitchFamily="34" charset="-122"/>
                <a:cs typeface="Calibri" pitchFamily="34" charset="-120"/>
              </a:rPr>
              <a:t>Prioritise Sharpe/Sortino leaders over raw CAGR for capital-preservation goals</a:t>
            </a:r>
            <a:endParaRPr lang="en-US" sz="1250" dirty="0"/>
          </a:p>
        </p:txBody>
      </p:sp>
      <p:sp>
        <p:nvSpPr>
          <p:cNvPr id="7" name="Shape 5"/>
          <p:cNvSpPr/>
          <p:nvPr/>
        </p:nvSpPr>
        <p:spPr>
          <a:xfrm>
            <a:off x="868680" y="3063240"/>
            <a:ext cx="128016" cy="128016"/>
          </a:xfrm>
          <a:prstGeom prst="ellipse">
            <a:avLst/>
          </a:prstGeom>
          <a:solidFill>
            <a:srgbClr val="C9A24B"/>
          </a:solidFill>
          <a:ln/>
        </p:spPr>
      </p:sp>
      <p:sp>
        <p:nvSpPr>
          <p:cNvPr id="8" name="Text 6"/>
          <p:cNvSpPr/>
          <p:nvPr/>
        </p:nvSpPr>
        <p:spPr>
          <a:xfrm>
            <a:off x="1188720" y="2898648"/>
            <a:ext cx="4434840" cy="822960"/>
          </a:xfrm>
          <a:prstGeom prst="rect">
            <a:avLst/>
          </a:prstGeom>
          <a:noFill/>
          <a:ln/>
        </p:spPr>
        <p:txBody>
          <a:bodyPr wrap="square" rtlCol="0" anchor="t"/>
          <a:lstStyle/>
          <a:p>
            <a:pPr marL="0" indent="0">
              <a:buNone/>
            </a:pPr>
            <a:r>
              <a:rPr lang="en-US" sz="1250" dirty="0">
                <a:solidFill>
                  <a:srgbClr val="1B2A4A"/>
                </a:solidFill>
                <a:latin typeface="Calibri" pitchFamily="34" charset="0"/>
                <a:ea typeface="Calibri" pitchFamily="34" charset="-122"/>
                <a:cs typeface="Calibri" pitchFamily="34" charset="-120"/>
              </a:rPr>
              <a:t>Size small-cap exposure with awareness of elevated VaR</a:t>
            </a:r>
            <a:endParaRPr lang="en-US" sz="1250" dirty="0"/>
          </a:p>
        </p:txBody>
      </p:sp>
      <p:sp>
        <p:nvSpPr>
          <p:cNvPr id="9" name="Shape 7"/>
          <p:cNvSpPr/>
          <p:nvPr/>
        </p:nvSpPr>
        <p:spPr>
          <a:xfrm>
            <a:off x="868680" y="4023360"/>
            <a:ext cx="128016" cy="128016"/>
          </a:xfrm>
          <a:prstGeom prst="ellipse">
            <a:avLst/>
          </a:prstGeom>
          <a:solidFill>
            <a:srgbClr val="C9A24B"/>
          </a:solidFill>
          <a:ln/>
        </p:spPr>
      </p:sp>
      <p:sp>
        <p:nvSpPr>
          <p:cNvPr id="10" name="Text 8"/>
          <p:cNvSpPr/>
          <p:nvPr/>
        </p:nvSpPr>
        <p:spPr>
          <a:xfrm>
            <a:off x="1188720" y="3858768"/>
            <a:ext cx="4434840" cy="822960"/>
          </a:xfrm>
          <a:prstGeom prst="rect">
            <a:avLst/>
          </a:prstGeom>
          <a:noFill/>
          <a:ln/>
        </p:spPr>
        <p:txBody>
          <a:bodyPr wrap="square" rtlCol="0" anchor="t"/>
          <a:lstStyle/>
          <a:p>
            <a:pPr marL="0" indent="0">
              <a:buNone/>
            </a:pPr>
            <a:r>
              <a:rPr lang="en-US" sz="1250" dirty="0">
                <a:solidFill>
                  <a:srgbClr val="1B2A4A"/>
                </a:solidFill>
                <a:latin typeface="Calibri" pitchFamily="34" charset="0"/>
                <a:ea typeface="Calibri" pitchFamily="34" charset="-122"/>
                <a:cs typeface="Calibri" pitchFamily="34" charset="-120"/>
              </a:rPr>
              <a:t>Use SIP continuity data to target retention interventions</a:t>
            </a:r>
            <a:endParaRPr lang="en-US" sz="1250" dirty="0"/>
          </a:p>
        </p:txBody>
      </p:sp>
      <p:sp>
        <p:nvSpPr>
          <p:cNvPr id="11" name="Shape 9"/>
          <p:cNvSpPr/>
          <p:nvPr/>
        </p:nvSpPr>
        <p:spPr>
          <a:xfrm>
            <a:off x="868680" y="4983480"/>
            <a:ext cx="128016" cy="128016"/>
          </a:xfrm>
          <a:prstGeom prst="ellipse">
            <a:avLst/>
          </a:prstGeom>
          <a:solidFill>
            <a:srgbClr val="C9A24B"/>
          </a:solidFill>
          <a:ln/>
        </p:spPr>
      </p:sp>
      <p:sp>
        <p:nvSpPr>
          <p:cNvPr id="12" name="Text 10"/>
          <p:cNvSpPr/>
          <p:nvPr/>
        </p:nvSpPr>
        <p:spPr>
          <a:xfrm>
            <a:off x="1188720" y="4818888"/>
            <a:ext cx="4434840" cy="822960"/>
          </a:xfrm>
          <a:prstGeom prst="rect">
            <a:avLst/>
          </a:prstGeom>
          <a:noFill/>
          <a:ln/>
        </p:spPr>
        <p:txBody>
          <a:bodyPr wrap="square" rtlCol="0" anchor="t"/>
          <a:lstStyle/>
          <a:p>
            <a:pPr marL="0" indent="0">
              <a:buNone/>
            </a:pPr>
            <a:r>
              <a:rPr lang="en-US" sz="1250" dirty="0">
                <a:solidFill>
                  <a:srgbClr val="1B2A4A"/>
                </a:solidFill>
                <a:latin typeface="Calibri" pitchFamily="34" charset="0"/>
                <a:ea typeface="Calibri" pitchFamily="34" charset="-122"/>
                <a:cs typeface="Calibri" pitchFamily="34" charset="-120"/>
              </a:rPr>
              <a:t>Publish HHI concentration scores alongside standard fact sheets</a:t>
            </a:r>
            <a:endParaRPr lang="en-US" sz="1250" dirty="0"/>
          </a:p>
        </p:txBody>
      </p:sp>
      <p:sp>
        <p:nvSpPr>
          <p:cNvPr id="13" name="Shape 11"/>
          <p:cNvSpPr/>
          <p:nvPr/>
        </p:nvSpPr>
        <p:spPr>
          <a:xfrm>
            <a:off x="5989320" y="1280160"/>
            <a:ext cx="5669280" cy="4846320"/>
          </a:xfrm>
          <a:prstGeom prst="roundRect">
            <a:avLst>
              <a:gd name="adj" fmla="val 1509"/>
            </a:avLst>
          </a:prstGeom>
          <a:solidFill>
            <a:srgbClr val="1B2A4A"/>
          </a:solidFill>
          <a:ln/>
        </p:spPr>
      </p:sp>
      <p:sp>
        <p:nvSpPr>
          <p:cNvPr id="14" name="Text 12"/>
          <p:cNvSpPr/>
          <p:nvPr/>
        </p:nvSpPr>
        <p:spPr>
          <a:xfrm>
            <a:off x="6309360" y="1463040"/>
            <a:ext cx="51206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Future Scope</a:t>
            </a:r>
            <a:endParaRPr lang="en-US" sz="1700" dirty="0"/>
          </a:p>
        </p:txBody>
      </p:sp>
      <p:sp>
        <p:nvSpPr>
          <p:cNvPr id="15" name="Shape 13"/>
          <p:cNvSpPr/>
          <p:nvPr/>
        </p:nvSpPr>
        <p:spPr>
          <a:xfrm>
            <a:off x="6309360" y="2103120"/>
            <a:ext cx="128016" cy="128016"/>
          </a:xfrm>
          <a:prstGeom prst="ellipse">
            <a:avLst/>
          </a:prstGeom>
          <a:solidFill>
            <a:srgbClr val="C9A24B"/>
          </a:solidFill>
          <a:ln/>
        </p:spPr>
      </p:sp>
      <p:sp>
        <p:nvSpPr>
          <p:cNvPr id="16" name="Text 14"/>
          <p:cNvSpPr/>
          <p:nvPr/>
        </p:nvSpPr>
        <p:spPr>
          <a:xfrm>
            <a:off x="6629400" y="1938528"/>
            <a:ext cx="4892040" cy="685800"/>
          </a:xfrm>
          <a:prstGeom prst="rect">
            <a:avLst/>
          </a:prstGeom>
          <a:noFill/>
          <a:ln/>
        </p:spPr>
        <p:txBody>
          <a:bodyPr wrap="square" rtlCol="0" anchor="t"/>
          <a:lstStyle/>
          <a:p>
            <a:pPr marL="0" indent="0">
              <a:buNone/>
            </a:pPr>
            <a:r>
              <a:rPr lang="en-US" sz="1200" dirty="0">
                <a:solidFill>
                  <a:srgbClr val="D8E4F5"/>
                </a:solidFill>
                <a:latin typeface="Calibri" pitchFamily="34" charset="0"/>
                <a:ea typeface="Calibri" pitchFamily="34" charset="-122"/>
                <a:cs typeface="Calibri" pitchFamily="34" charset="-120"/>
              </a:rPr>
              <a:t>Migrate SQLite to a cloud-hosted database for scale &amp; concurrency</a:t>
            </a:r>
            <a:endParaRPr lang="en-US" sz="1200" dirty="0"/>
          </a:p>
        </p:txBody>
      </p:sp>
      <p:sp>
        <p:nvSpPr>
          <p:cNvPr id="17" name="Shape 15"/>
          <p:cNvSpPr/>
          <p:nvPr/>
        </p:nvSpPr>
        <p:spPr>
          <a:xfrm>
            <a:off x="6309360" y="2880360"/>
            <a:ext cx="128016" cy="128016"/>
          </a:xfrm>
          <a:prstGeom prst="ellipse">
            <a:avLst/>
          </a:prstGeom>
          <a:solidFill>
            <a:srgbClr val="C9A24B"/>
          </a:solidFill>
          <a:ln/>
        </p:spPr>
      </p:sp>
      <p:sp>
        <p:nvSpPr>
          <p:cNvPr id="18" name="Text 16"/>
          <p:cNvSpPr/>
          <p:nvPr/>
        </p:nvSpPr>
        <p:spPr>
          <a:xfrm>
            <a:off x="6629400" y="2715768"/>
            <a:ext cx="4892040" cy="685800"/>
          </a:xfrm>
          <a:prstGeom prst="rect">
            <a:avLst/>
          </a:prstGeom>
          <a:noFill/>
          <a:ln/>
        </p:spPr>
        <p:txBody>
          <a:bodyPr wrap="square" rtlCol="0" anchor="t"/>
          <a:lstStyle/>
          <a:p>
            <a:pPr marL="0" indent="0">
              <a:buNone/>
            </a:pPr>
            <a:r>
              <a:rPr lang="en-US" sz="1200" dirty="0">
                <a:solidFill>
                  <a:srgbClr val="D8E4F5"/>
                </a:solidFill>
                <a:latin typeface="Calibri" pitchFamily="34" charset="0"/>
                <a:ea typeface="Calibri" pitchFamily="34" charset="-122"/>
                <a:cs typeface="Calibri" pitchFamily="34" charset="-120"/>
              </a:rPr>
              <a:t>Automate live NAV-fetch as a scheduled job</a:t>
            </a:r>
            <a:endParaRPr lang="en-US" sz="1200" dirty="0"/>
          </a:p>
        </p:txBody>
      </p:sp>
      <p:sp>
        <p:nvSpPr>
          <p:cNvPr id="19" name="Shape 17"/>
          <p:cNvSpPr/>
          <p:nvPr/>
        </p:nvSpPr>
        <p:spPr>
          <a:xfrm>
            <a:off x="6309360" y="3657600"/>
            <a:ext cx="128016" cy="128016"/>
          </a:xfrm>
          <a:prstGeom prst="ellipse">
            <a:avLst/>
          </a:prstGeom>
          <a:solidFill>
            <a:srgbClr val="C9A24B"/>
          </a:solidFill>
          <a:ln/>
        </p:spPr>
      </p:sp>
      <p:sp>
        <p:nvSpPr>
          <p:cNvPr id="20" name="Text 18"/>
          <p:cNvSpPr/>
          <p:nvPr/>
        </p:nvSpPr>
        <p:spPr>
          <a:xfrm>
            <a:off x="6629400" y="3493008"/>
            <a:ext cx="4892040" cy="685800"/>
          </a:xfrm>
          <a:prstGeom prst="rect">
            <a:avLst/>
          </a:prstGeom>
          <a:noFill/>
          <a:ln/>
        </p:spPr>
        <p:txBody>
          <a:bodyPr wrap="square" rtlCol="0" anchor="t"/>
          <a:lstStyle/>
          <a:p>
            <a:pPr marL="0" indent="0">
              <a:buNone/>
            </a:pPr>
            <a:r>
              <a:rPr lang="en-US" sz="1200" dirty="0">
                <a:solidFill>
                  <a:srgbClr val="D8E4F5"/>
                </a:solidFill>
                <a:latin typeface="Calibri" pitchFamily="34" charset="0"/>
                <a:ea typeface="Calibri" pitchFamily="34" charset="-122"/>
                <a:cs typeface="Calibri" pitchFamily="34" charset="-120"/>
              </a:rPr>
              <a:t>Upgrade the recommender to a learned ML-based model</a:t>
            </a:r>
            <a:endParaRPr lang="en-US" sz="1200" dirty="0"/>
          </a:p>
        </p:txBody>
      </p:sp>
      <p:sp>
        <p:nvSpPr>
          <p:cNvPr id="21" name="Shape 19"/>
          <p:cNvSpPr/>
          <p:nvPr/>
        </p:nvSpPr>
        <p:spPr>
          <a:xfrm>
            <a:off x="6309360" y="4434840"/>
            <a:ext cx="128016" cy="128016"/>
          </a:xfrm>
          <a:prstGeom prst="ellipse">
            <a:avLst/>
          </a:prstGeom>
          <a:solidFill>
            <a:srgbClr val="C9A24B"/>
          </a:solidFill>
          <a:ln/>
        </p:spPr>
      </p:sp>
      <p:sp>
        <p:nvSpPr>
          <p:cNvPr id="22" name="Text 20"/>
          <p:cNvSpPr/>
          <p:nvPr/>
        </p:nvSpPr>
        <p:spPr>
          <a:xfrm>
            <a:off x="6629400" y="4270248"/>
            <a:ext cx="4892040" cy="685800"/>
          </a:xfrm>
          <a:prstGeom prst="rect">
            <a:avLst/>
          </a:prstGeom>
          <a:noFill/>
          <a:ln/>
        </p:spPr>
        <p:txBody>
          <a:bodyPr wrap="square" rtlCol="0" anchor="t"/>
          <a:lstStyle/>
          <a:p>
            <a:pPr marL="0" indent="0">
              <a:buNone/>
            </a:pPr>
            <a:r>
              <a:rPr lang="en-US" sz="1200" dirty="0">
                <a:solidFill>
                  <a:srgbClr val="D8E4F5"/>
                </a:solidFill>
                <a:latin typeface="Calibri" pitchFamily="34" charset="0"/>
                <a:ea typeface="Calibri" pitchFamily="34" charset="-122"/>
                <a:cs typeface="Calibri" pitchFamily="34" charset="-120"/>
              </a:rPr>
              <a:t>Add parametric &amp; Monte Carlo VaR to cross-validate risk</a:t>
            </a:r>
            <a:endParaRPr lang="en-US" sz="1200" dirty="0"/>
          </a:p>
        </p:txBody>
      </p:sp>
      <p:sp>
        <p:nvSpPr>
          <p:cNvPr id="23" name="Shape 21"/>
          <p:cNvSpPr/>
          <p:nvPr/>
        </p:nvSpPr>
        <p:spPr>
          <a:xfrm>
            <a:off x="6309360" y="5212080"/>
            <a:ext cx="128016" cy="128016"/>
          </a:xfrm>
          <a:prstGeom prst="ellipse">
            <a:avLst/>
          </a:prstGeom>
          <a:solidFill>
            <a:srgbClr val="C9A24B"/>
          </a:solidFill>
          <a:ln/>
        </p:spPr>
      </p:sp>
      <p:sp>
        <p:nvSpPr>
          <p:cNvPr id="24" name="Text 22"/>
          <p:cNvSpPr/>
          <p:nvPr/>
        </p:nvSpPr>
        <p:spPr>
          <a:xfrm>
            <a:off x="6629400" y="5047488"/>
            <a:ext cx="4892040" cy="685800"/>
          </a:xfrm>
          <a:prstGeom prst="rect">
            <a:avLst/>
          </a:prstGeom>
          <a:noFill/>
          <a:ln/>
        </p:spPr>
        <p:txBody>
          <a:bodyPr wrap="square" rtlCol="0" anchor="t"/>
          <a:lstStyle/>
          <a:p>
            <a:pPr marL="0" indent="0">
              <a:buNone/>
            </a:pPr>
            <a:r>
              <a:rPr lang="en-US" sz="1200" dirty="0">
                <a:solidFill>
                  <a:srgbClr val="D8E4F5"/>
                </a:solidFill>
                <a:latin typeface="Calibri" pitchFamily="34" charset="0"/>
                <a:ea typeface="Calibri" pitchFamily="34" charset="-122"/>
                <a:cs typeface="Calibri" pitchFamily="34" charset="-120"/>
              </a:rPr>
              <a:t>Publish to Power BI Service with role-based access</a:t>
            </a:r>
            <a:endParaRPr lang="en-US" sz="1200" dirty="0"/>
          </a:p>
        </p:txBody>
      </p:sp>
      <p:sp>
        <p:nvSpPr>
          <p:cNvPr id="25" name="Text 2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A9B4C4"/>
                </a:solidFill>
                <a:latin typeface="Calibri" pitchFamily="34" charset="0"/>
                <a:ea typeface="Calibri" pitchFamily="34" charset="-122"/>
                <a:cs typeface="Calibri" pitchFamily="34" charset="-120"/>
              </a:rPr>
              <a:t>Bluestock Mutual Fund Analytics</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A9B4C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754880" cy="4754880"/>
          </a:xfrm>
          <a:prstGeom prst="ellipse">
            <a:avLst/>
          </a:prstGeom>
          <a:solidFill>
            <a:srgbClr val="202F52"/>
          </a:solidFill>
          <a:ln/>
        </p:spPr>
      </p:sp>
      <p:sp>
        <p:nvSpPr>
          <p:cNvPr id="3" name="Shape 1"/>
          <p:cNvSpPr/>
          <p:nvPr/>
        </p:nvSpPr>
        <p:spPr>
          <a:xfrm>
            <a:off x="9418320" y="4206240"/>
            <a:ext cx="4754880" cy="4754880"/>
          </a:xfrm>
          <a:prstGeom prst="ellipse">
            <a:avLst/>
          </a:prstGeom>
          <a:solidFill>
            <a:srgbClr val="202F52"/>
          </a:solidFill>
          <a:ln/>
        </p:spPr>
      </p:sp>
      <p:sp>
        <p:nvSpPr>
          <p:cNvPr id="4" name="Text 2"/>
          <p:cNvSpPr/>
          <p:nvPr/>
        </p:nvSpPr>
        <p:spPr>
          <a:xfrm>
            <a:off x="731520" y="2468880"/>
            <a:ext cx="10515600" cy="109728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731520" y="3520440"/>
            <a:ext cx="10515600" cy="457200"/>
          </a:xfrm>
          <a:prstGeom prst="rect">
            <a:avLst/>
          </a:prstGeom>
          <a:noFill/>
          <a:ln/>
        </p:spPr>
        <p:txBody>
          <a:bodyPr wrap="square" rtlCol="0" anchor="ctr"/>
          <a:lstStyle/>
          <a:p>
            <a:pPr marL="0" indent="0" algn="ctr">
              <a:buNone/>
            </a:pPr>
            <a:r>
              <a:rPr lang="en-US" sz="1600" i="1" dirty="0">
                <a:solidFill>
                  <a:srgbClr val="C9A24B"/>
                </a:solidFill>
                <a:latin typeface="Calibri" pitchFamily="34" charset="0"/>
                <a:ea typeface="Calibri" pitchFamily="34" charset="-122"/>
                <a:cs typeface="Calibri" pitchFamily="34" charset="-120"/>
              </a:rPr>
              <a:t>Bluestock Mutual Fund Analytics — Questions &amp; Discussion</a:t>
            </a:r>
            <a:endParaRPr lang="en-US" sz="1600" dirty="0"/>
          </a:p>
        </p:txBody>
      </p:sp>
      <p:sp>
        <p:nvSpPr>
          <p:cNvPr id="6" name="Text 4"/>
          <p:cNvSpPr/>
          <p:nvPr/>
        </p:nvSpPr>
        <p:spPr>
          <a:xfrm>
            <a:off x="731520" y="5394960"/>
            <a:ext cx="10515600" cy="365760"/>
          </a:xfrm>
          <a:prstGeom prst="rect">
            <a:avLst/>
          </a:prstGeom>
          <a:noFill/>
          <a:ln/>
        </p:spPr>
        <p:txBody>
          <a:bodyPr wrap="square" rtlCol="0" anchor="ctr"/>
          <a:lstStyle/>
          <a:p>
            <a:pPr algn="ctr"/>
            <a:r>
              <a:rPr lang="en-US" sz="1200" dirty="0">
                <a:solidFill>
                  <a:srgbClr val="9FB0CC"/>
                </a:solidFill>
                <a:latin typeface="Calibri" pitchFamily="34" charset="0"/>
                <a:ea typeface="Calibri" pitchFamily="34" charset="-122"/>
                <a:cs typeface="Calibri" pitchFamily="34" charset="-120"/>
              </a:rPr>
              <a:t>Prachi Dadlani |  prachidadlani5@gmail.com  |  https://github.com/prachidadlani5-arch/bluestock-mf-capstone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1527</Words>
  <Application>Microsoft Office PowerPoint</Application>
  <PresentationFormat>Widescreen</PresentationFormat>
  <Paragraphs>199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Prachi Dadlani</cp:lastModifiedBy>
  <cp:revision>2</cp:revision>
  <dcterms:created xsi:type="dcterms:W3CDTF">2026-07-11T00:32:41Z</dcterms:created>
  <dcterms:modified xsi:type="dcterms:W3CDTF">2026-07-11T09:12:43Z</dcterms:modified>
</cp:coreProperties>
</file>